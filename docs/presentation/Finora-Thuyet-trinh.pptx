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 Giới thiệu Finora, đề tài xây dựng hệ thống quản lý tài chính cá nhân và lập ngân sách tự động. Bản trình bày tập trung vào bài toán, phân tích thiết kế và sản phẩm MVP đã triển khai trong môi trường phát triển. Ví dụ tiền trên bìa chỉ là số liệu minh họa. Bổ sung tên sinh viên, lớp và giảng viên trên slide này nếu cần.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50 giây. Đây là các vấn đề mà sản phẩm hướng tới, không phải kết quả khảo sát người dùng. Nhấn mạnh ba nhu cầu: tập hợp tài sản, hiểu thu chi và chủ động lập kế hoạch. Giá trị kỳ vọng là hỗ trợ ra quyết định; chưa có nghiên cứu đo mức tăng tiết kiệm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50 giây. Phạm vi hiện tại là ứng dụng web cho từng cá nhân, dùng tiền VND và ngân sách theo tháng. Dữ liệu mỗi tài khoản được tách biệt ở backend. Nêu yêu cầu phi chức năng: tiền tệ chính xác, bảo vệ dữ liệu và sử dụng được trên điện thoại. Chưa có vai trò quản trị viên đọc dữ liệu tài chính của người khác.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40 giây. Đây là sơ đồ chức năng theo tác nhân, dùng để trình bày tổng quan thay cho một sơ đồ UML chi tiết. Một tác nhân người dùng thao tác với sáu nhóm chức năng. Tất cả tài nguyên nghiệp vụ được xác thực phiên và kiểm tra quyền sở hữu. Chế độ trải nghiệm tạo dữ liệu mẫu riêng cho từng phiên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 Giải thích lý do chọn TypeScript: chia sẻ cách biểu diễn dữ liệu và kiểm tra kiểu trên cả hai phía. React hỗ trợ xây dựng giao diện; NestJS tổ chức controller, guard và service; PostgreSQL lưu dữ liệu có ràng buộc. Prisma dùng JavaScript engine và adapter pg. Development dùng proxy Vite; production NestJS phục vụ frontend đã build cùng API. Không đưa bí mật hay thông tin kết nối database vào frontend. Finora V2 tách provider Wallets, Transactions, Budgets, Reports trong cùng NestJS; frontend tách app/features/shared. CSS theo token thay Tailwind không còn dùng. Dashboard và báo cáo tải động.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70 giây. Mô hình có bảy bảng. User sở hữu Session, Wallet, Category, Transaction và BudgetPlan. Transaction tham chiếu ví chính, có ví đích khi chuyển tiền, và có danh mục cho thu hoặc chi. BudgetItem nối kế hoạch với từng danh mục. Sơ đồ đã lược bớt thuộc tính và đường nối để dễ đọc; destinationId trên hình là viết tắt của destinationWalletId. PK là khóa chính, FK là khóa ngoại. Các quan hệ ví/danh mục tới giao dịch và danh mục/kế hoạch tới BudgetItem đều là một–nhiều, với khóa ngoại có thể rỗng theo loại giao dịch. Ràng buộc database giữ một kế hoạch đang áp dụng cho mỗi người và tháng.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 Minh họa chuyển 500 nghìn từ ví ngân hàng sang tiền mặt: tổng tài sản không đổi. Số dư đầu không tính là thu nhập trong kỳ. Thu nhập dự kiến không được cộng vào thu nhập thực tế. Tiết kiệm dự kiến không đồng nghĩa đã tiết kiệm. Cho phép số dư âm khi nhập thiếu hoặc chi vượt số dư, nhưng có cảnh báo để người dùng kiểm tra.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 Tách preview khỏi save để người dùng xem phương án trước. Khi lưu, backend tính lại từ đầu vào thay vì tin hạn mức do frontend gửi. Nếu thay đổi dữ liệu, bản xem trước cũ bị hủy. Database transaction và advisory lock tránh hai thao tác tạo kế hoạch đang áp dụng đồng thời. Phiên bản trước vẫn lưu trong database; giao diện hiện chỉ hiển thị bản đang áp dụng. Nếu nguồn tiền không đủ, hệ thống trả lỗi và không áp dụng.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80 giây. Thu nhập 10 triệu, chi bắt buộc 4 triệu, tiết kiệm dự kiến 2 triệu nên còn 4 triệu linh hoạt. Tổng trọng số là 6. Ăn uống nhận thêm 2 triệu; di chuyển nhận 1.333.333 đồng; giải trí nhận 666.667 đồng sau phân bổ phần dư. Hạn mức ăn uống cộng cả 1 triệu bắt buộc thành 3 triệu. Tổng bốn danh mục bằng 8 triệu. Thuật toán dùng BigInt, chia nguyên, rồi cấp từng đồng dư cho phần dư lớn nhất; nếu bằng nhau dùng thứ tự danh mục. Đây là tự động theo quy tắc, chưa phải mô hình AI dự đoán.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50 giây. Đây là ảnh từ ứng dụng chạy thật với tài khoản demo, không phải wireframe. Ảnh cắt phần đầu để phóng to khu vực quan trọng. Đi từ trên xuống: hành động thêm giao dịch, bốn chỉ số tổng quan và biểu đồ. Tổng số dư là số dư hiện tại, còn thu nhập và chi tiêu phụ thuộc tháng được chọn. Dữ liệu mẫu không đại diện cho một người dùng thật.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 Mục tiêu thiết kế là phù hợp người trẻ mà vẫn đọc được số liệu tài chính. Hiệu ứng được triển khai bằng Motion và CSS, ảnh tĩnh trên slide không thể hiện chuyển động. Khi demo có thể rê chuột lên nút, thẻ, rồi bấm nút biểu tượng lấp lánh để giảm chuyển động. Hệ thống cũng phản hồi khi cài đặt reduced motion của hệ điều hành thay đổi. Ảnh điện thoại được cắt phần đầu để dễ quan sát. Bản V2 dùng nền ấm, sidebar tối; sửa tương phản và kiểm tra 320/390/768/1024/1440px. Menu mobile giữ focus và đóng bằng Escape.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 Các số 18 và 6 là kết quả kiểm tra bản Finora V2 ngày 29/10/2026. Có kiểm tra axe-core trên các màn hình/dialog chính và năm viewport; chưa phải chứng nhận WCAG toàn diện. Build API và frontend đã thành công. API integration dùng PostgreSQL thật. Đổi mật khẩu thu hồi các phiên khác. Production bật Secure cho cookie và cần HTTPS. Các kiểm thử chứng minh những luồng đã kiểm tra; chưa có đánh giá tải lớn hay kiểm toán bảo mật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55 giây. WBS chia dự án thành năm nhóm công việc theo đầu ra. Các mục trên là kết quả hiện có chứ không phải một lịch dự án được dựng lại. Khi làm báo cáo học phần có thể bổ sung thành viên, người phụ trách, ngày bắt đầu/kết thúc và ước lượng theo dữ liệu thực tế của nhóm. Repository đã được đẩy lên GitHub. Chưa có môi trường production công khai, tên miền hay chứng chỉ HTTPS. Workflow CI đã được cấu hình và các lệnh đã kiểm chứng cục bộ; không khẳng định GitHub Actions hoặc branch protection đã được xác nhận trên dịch vụ.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50 giây. Đây là đề xuất lộ trình, chưa cam kết thời hạn và chưa phải chức năng hiện hữu. Ưu tiên vận hành ổn định và bảo vệ dữ liệu trước khi tích hợp thêm dịch vụ. Thu nhập dự kiến có thể sai so với thực tế nên cần cập nhật ngân sách. Tích hợp ngân hàng và dự báo cần khảo sát, nguồn dữ liệu, sự đồng ý và đánh giá chi phí. Không khẳng định hệ thống hiện có 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30 giây giới thiệu + 2 phút demo nếu có. Trước buổi báo cáo chạy scripts/setup.sh và scripts/start.sh theo README. Mở tài khoản demo; thêm một khoản chi với số tiền dễ đối chiếu; xem số dư thay đổi; tạo phương án ngân sách rồi áp dụng; cuối cùng đổi kích thước màn hình hoặc mở trên điện thoại và thử nút giảm chuyển động. Nếu không có môi trường chạy, dùng ảnh slide 10 và 11, không nói rằng demo trực tiếp đã diễn ra. Link GitHub chứa mã nguồn và hướng dẫn, không phải đường dẫn website đã triển khai công khai.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10.xml"/><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11.xml"/><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unato2807-del/qlduanphammen" TargetMode="External"/><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282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D6EF8B"/>
                </a:solidFill>
                <a:latin typeface="Arial"/>
              </a:defRPr>
            </a:pPr>
            <a:r>
              <a:rPr>
                <a:solidFill/>
              </a:rPr>
              <a:t>FINORA / BÁO CÁO ĐỒ ÁN</a:t>
            </a:r>
          </a:p>
        </p:txBody>
      </p:sp>
      <p:cxnSp>
        <p:nvCxnSpPr>
          <p:cNvPr id="4" name="Connector 3"/>
          <p:cNvCxnSpPr/>
          <p:nvPr/>
        </p:nvCxnSpPr>
        <p:spPr>
          <a:xfrm>
            <a:off x="508000" y="6413500"/>
            <a:ext cx="11176000" cy="0"/>
          </a:xfrm>
          <a:prstGeom prst="line">
            <a:avLst/>
          </a:prstGeom>
          <a:ln w="7620">
            <a:solidFill>
              <a:srgbClr val="59615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EDE6FC"/>
                </a:solidFill>
                <a:latin typeface="Arial"/>
              </a:defRPr>
            </a:pPr>
            <a:r>
              <a:rPr>
                <a:solidFill/>
              </a:rPr>
              <a:t>FINORA / TÀI CHÍNH TRONG TẦM TAY</a:t>
            </a:r>
          </a:p>
        </p:txBody>
      </p:sp>
      <p:sp>
        <p:nvSpPr>
          <p:cNvPr id="6" name="TextBox 5"/>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D6EF8B"/>
                </a:solidFill>
                <a:latin typeface="Arial"/>
              </a:defRPr>
            </a:pPr>
            <a:r>
              <a:rPr>
                <a:solidFill/>
              </a:rPr>
              <a:t>01 / 15</a:t>
            </a:r>
          </a:p>
        </p:txBody>
      </p:sp>
      <p:sp>
        <p:nvSpPr>
          <p:cNvPr id="7" name="Rounded Rectangle 6"/>
          <p:cNvSpPr/>
          <p:nvPr/>
        </p:nvSpPr>
        <p:spPr>
          <a:xfrm>
            <a:off x="508000" y="952500"/>
            <a:ext cx="30988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 name="TextBox 7"/>
          <p:cNvSpPr txBox="1"/>
          <p:nvPr/>
        </p:nvSpPr>
        <p:spPr>
          <a:xfrm>
            <a:off x="622300" y="1016000"/>
            <a:ext cx="28702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FULLSTACK WEB APPLICATION</a:t>
            </a:r>
          </a:p>
        </p:txBody>
      </p:sp>
      <p:sp>
        <p:nvSpPr>
          <p:cNvPr id="9" name="TextBox 8"/>
          <p:cNvSpPr txBox="1"/>
          <p:nvPr/>
        </p:nvSpPr>
        <p:spPr>
          <a:xfrm>
            <a:off x="508000" y="1587500"/>
            <a:ext cx="7112000" cy="1270000"/>
          </a:xfrm>
          <a:prstGeom prst="rect">
            <a:avLst/>
          </a:prstGeom>
          <a:noFill/>
          <a:ln>
            <a:solidFill/>
          </a:ln>
        </p:spPr>
        <p:txBody>
          <a:bodyPr wrap="none" lIns="0" rIns="0" tIns="0" bIns="0">
            <a:spAutoFit/>
          </a:bodyPr>
          <a:lstStyle/>
          <a:p>
            <a:pPr algn="l">
              <a:lnSpc>
                <a:spcPts val="9348"/>
              </a:lnSpc>
              <a:spcBef>
                <a:spcPts val="0"/>
              </a:spcBef>
              <a:spcAft>
                <a:spcPts val="0"/>
              </a:spcAft>
              <a:defRPr sz="7600" b="1">
                <a:solidFill>
                  <a:srgbClr val="FFFFFF"/>
                </a:solidFill>
                <a:latin typeface="Arial"/>
              </a:defRPr>
            </a:pPr>
            <a:r>
              <a:rPr>
                <a:solidFill/>
              </a:rPr>
              <a:t>finora.</a:t>
            </a:r>
          </a:p>
        </p:txBody>
      </p:sp>
      <p:sp>
        <p:nvSpPr>
          <p:cNvPr id="10" name="TextBox 9"/>
          <p:cNvSpPr txBox="1"/>
          <p:nvPr/>
        </p:nvSpPr>
        <p:spPr>
          <a:xfrm>
            <a:off x="558800" y="3009900"/>
            <a:ext cx="7239000" cy="12065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FFFFFF"/>
                </a:solidFill>
                <a:latin typeface="Arial"/>
              </a:defRPr>
            </a:pPr>
            <a:r>
              <a:rPr>
                <a:solidFill/>
              </a:rPr>
              <a:t>Quản lý tài chính cá nhân</a:t>
            </a:r>
          </a:p>
          <a:p>
            <a:pPr algn="l">
              <a:lnSpc>
                <a:spcPts val="3690"/>
              </a:lnSpc>
              <a:spcBef>
                <a:spcPts val="0"/>
              </a:spcBef>
              <a:spcAft>
                <a:spcPts val="0"/>
              </a:spcAft>
              <a:defRPr sz="3000" b="1">
                <a:solidFill>
                  <a:srgbClr val="FFFFFF"/>
                </a:solidFill>
                <a:latin typeface="Arial"/>
              </a:defRPr>
            </a:pPr>
            <a:r>
              <a:rPr>
                <a:solidFill/>
              </a:rPr>
              <a:t>và lập ngân sách tự động</a:t>
            </a:r>
          </a:p>
        </p:txBody>
      </p:sp>
      <p:sp>
        <p:nvSpPr>
          <p:cNvPr id="11" name="TextBox 10"/>
          <p:cNvSpPr txBox="1"/>
          <p:nvPr/>
        </p:nvSpPr>
        <p:spPr>
          <a:xfrm>
            <a:off x="558800" y="4381500"/>
            <a:ext cx="7366000" cy="381000"/>
          </a:xfrm>
          <a:prstGeom prst="rect">
            <a:avLst/>
          </a:prstGeom>
          <a:noFill/>
          <a:ln>
            <a:solidFill/>
          </a:ln>
        </p:spPr>
        <p:txBody>
          <a:bodyPr wrap="none" lIns="0" rIns="0" tIns="0" bIns="0">
            <a:spAutoFit/>
          </a:bodyPr>
          <a:lstStyle/>
          <a:p>
            <a:pPr algn="l">
              <a:lnSpc>
                <a:spcPts val="2214"/>
              </a:lnSpc>
              <a:spcBef>
                <a:spcPts val="0"/>
              </a:spcBef>
              <a:spcAft>
                <a:spcPts val="0"/>
              </a:spcAft>
              <a:defRPr sz="1800" b="0">
                <a:solidFill>
                  <a:srgbClr val="EDE6FC"/>
                </a:solidFill>
                <a:latin typeface="Arial"/>
              </a:defRPr>
            </a:pPr>
            <a:r>
              <a:rPr>
                <a:solidFill/>
              </a:rPr>
              <a:t>Phân tích, thiết kế và sản phẩm Finora V2</a:t>
            </a:r>
          </a:p>
        </p:txBody>
      </p:sp>
      <p:sp>
        <p:nvSpPr>
          <p:cNvPr id="12" name="Rounded Rectangle 11"/>
          <p:cNvSpPr/>
          <p:nvPr/>
        </p:nvSpPr>
        <p:spPr>
          <a:xfrm>
            <a:off x="558800" y="5041900"/>
            <a:ext cx="33655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73100" y="5105400"/>
            <a:ext cx="31369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222820"/>
                </a:solidFill>
                <a:latin typeface="Arial"/>
              </a:defRPr>
            </a:pPr>
            <a:r>
              <a:rPr>
                <a:solidFill/>
              </a:rPr>
              <a:t>React + NestJS + PostgreSQL</a:t>
            </a:r>
          </a:p>
        </p:txBody>
      </p:sp>
      <p:sp>
        <p:nvSpPr>
          <p:cNvPr id="14" name="Rounded Rectangle 13"/>
          <p:cNvSpPr/>
          <p:nvPr/>
        </p:nvSpPr>
        <p:spPr>
          <a:xfrm>
            <a:off x="8534400" y="1676400"/>
            <a:ext cx="2971800" cy="36068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TextBox 14"/>
          <p:cNvSpPr txBox="1"/>
          <p:nvPr/>
        </p:nvSpPr>
        <p:spPr>
          <a:xfrm>
            <a:off x="8826500" y="2057400"/>
            <a:ext cx="2387600" cy="965200"/>
          </a:xfrm>
          <a:prstGeom prst="rect">
            <a:avLst/>
          </a:prstGeom>
          <a:noFill/>
          <a:ln>
            <a:solidFill/>
          </a:ln>
        </p:spPr>
        <p:txBody>
          <a:bodyPr wrap="none" lIns="0" rIns="0" tIns="0" bIns="0">
            <a:spAutoFit/>
          </a:bodyPr>
          <a:lstStyle/>
          <a:p>
            <a:pPr algn="l">
              <a:lnSpc>
                <a:spcPts val="2952"/>
              </a:lnSpc>
              <a:spcBef>
                <a:spcPts val="0"/>
              </a:spcBef>
              <a:spcAft>
                <a:spcPts val="0"/>
              </a:spcAft>
              <a:defRPr sz="2400" b="1">
                <a:solidFill>
                  <a:srgbClr val="FFFFFF"/>
                </a:solidFill>
                <a:latin typeface="Arial"/>
              </a:defRPr>
            </a:pPr>
            <a:r>
              <a:rPr>
                <a:solidFill/>
              </a:rPr>
              <a:t>YOUR MONEY.</a:t>
            </a:r>
          </a:p>
          <a:p>
            <a:pPr algn="l">
              <a:lnSpc>
                <a:spcPts val="2952"/>
              </a:lnSpc>
              <a:spcBef>
                <a:spcPts val="0"/>
              </a:spcBef>
              <a:spcAft>
                <a:spcPts val="0"/>
              </a:spcAft>
              <a:defRPr sz="2400" b="1">
                <a:solidFill>
                  <a:srgbClr val="FFFFFF"/>
                </a:solidFill>
                <a:latin typeface="Arial"/>
              </a:defRPr>
            </a:pPr>
            <a:r>
              <a:rPr>
                <a:solidFill/>
              </a:rPr>
              <a:t>YOUR RULES.</a:t>
            </a:r>
          </a:p>
        </p:txBody>
      </p:sp>
      <p:sp>
        <p:nvSpPr>
          <p:cNvPr id="16" name="TextBox 15"/>
          <p:cNvSpPr txBox="1"/>
          <p:nvPr/>
        </p:nvSpPr>
        <p:spPr>
          <a:xfrm>
            <a:off x="8826500" y="3327400"/>
            <a:ext cx="2349500" cy="3175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Kế hoạch tháng</a:t>
            </a:r>
          </a:p>
        </p:txBody>
      </p:sp>
      <p:sp>
        <p:nvSpPr>
          <p:cNvPr id="17" name="TextBox 16"/>
          <p:cNvSpPr txBox="1"/>
          <p:nvPr/>
        </p:nvSpPr>
        <p:spPr>
          <a:xfrm>
            <a:off x="8826500" y="3771900"/>
            <a:ext cx="2413000" cy="508000"/>
          </a:xfrm>
          <a:prstGeom prst="rect">
            <a:avLst/>
          </a:prstGeom>
          <a:noFill/>
          <a:ln>
            <a:solidFill/>
          </a:ln>
        </p:spPr>
        <p:txBody>
          <a:bodyPr wrap="none" lIns="0" rIns="0" tIns="0" bIns="0">
            <a:spAutoFit/>
          </a:bodyPr>
          <a:lstStyle/>
          <a:p>
            <a:pPr algn="l">
              <a:lnSpc>
                <a:spcPts val="3075"/>
              </a:lnSpc>
              <a:spcBef>
                <a:spcPts val="0"/>
              </a:spcBef>
              <a:spcAft>
                <a:spcPts val="0"/>
              </a:spcAft>
              <a:defRPr sz="2500" b="1">
                <a:solidFill>
                  <a:srgbClr val="FFFFFF"/>
                </a:solidFill>
                <a:latin typeface="Arial"/>
              </a:defRPr>
            </a:pPr>
            <a:r>
              <a:rPr>
                <a:solidFill/>
              </a:rPr>
              <a:t>10.000.000 ₫</a:t>
            </a:r>
          </a:p>
        </p:txBody>
      </p:sp>
      <p:sp>
        <p:nvSpPr>
          <p:cNvPr id="18" name="Rounded Rectangle 17"/>
          <p:cNvSpPr/>
          <p:nvPr/>
        </p:nvSpPr>
        <p:spPr>
          <a:xfrm>
            <a:off x="8826500" y="4521200"/>
            <a:ext cx="2349500" cy="1524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Rounded Rectangle 18"/>
          <p:cNvSpPr/>
          <p:nvPr/>
        </p:nvSpPr>
        <p:spPr>
          <a:xfrm>
            <a:off x="8826500" y="4521200"/>
            <a:ext cx="1714500" cy="1524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TextBox 19"/>
          <p:cNvSpPr txBox="1"/>
          <p:nvPr/>
        </p:nvSpPr>
        <p:spPr>
          <a:xfrm>
            <a:off x="8826500" y="4940300"/>
            <a:ext cx="2413000" cy="431800"/>
          </a:xfrm>
          <a:prstGeom prst="rect">
            <a:avLst/>
          </a:prstGeom>
          <a:noFill/>
          <a:ln>
            <a:solidFill/>
          </a:ln>
        </p:spPr>
        <p:txBody>
          <a:bodyPr wrap="none" lIns="0" rIns="0" tIns="0" bIns="0">
            <a:spAutoFit/>
          </a:bodyPr>
          <a:lstStyle/>
          <a:p>
            <a:pPr algn="l">
              <a:lnSpc>
                <a:spcPts val="1599"/>
              </a:lnSpc>
              <a:spcBef>
                <a:spcPts val="0"/>
              </a:spcBef>
              <a:spcAft>
                <a:spcPts val="0"/>
              </a:spcAft>
              <a:defRPr sz="1300" b="0">
                <a:solidFill>
                  <a:srgbClr val="FFFFFF"/>
                </a:solidFill>
                <a:latin typeface="Arial"/>
              </a:defRPr>
            </a:pPr>
            <a:r>
              <a:rPr>
                <a:solidFill/>
              </a:rPr>
              <a:t>Chủ động từng khoản chi</a:t>
            </a:r>
          </a:p>
        </p:txBody>
      </p:sp>
      <p:sp>
        <p:nvSpPr>
          <p:cNvPr id="21" name="TextBox 20"/>
          <p:cNvSpPr txBox="1"/>
          <p:nvPr/>
        </p:nvSpPr>
        <p:spPr>
          <a:xfrm>
            <a:off x="558800" y="5918200"/>
            <a:ext cx="7620000" cy="279400"/>
          </a:xfrm>
          <a:prstGeom prst="rect">
            <a:avLst/>
          </a:prstGeom>
          <a:noFill/>
          <a:ln>
            <a:solidFill/>
          </a:ln>
        </p:spPr>
        <p:txBody>
          <a:bodyPr wrap="none" lIns="0" rIns="0" tIns="0" bIns="0">
            <a:spAutoFit/>
          </a:bodyPr>
          <a:lstStyle/>
          <a:p>
            <a:pPr algn="l">
              <a:lnSpc>
                <a:spcPts val="1353"/>
              </a:lnSpc>
              <a:spcBef>
                <a:spcPts val="0"/>
              </a:spcBef>
              <a:spcAft>
                <a:spcPts val="0"/>
              </a:spcAft>
              <a:defRPr sz="1100" b="1">
                <a:solidFill>
                  <a:srgbClr val="EDE6FC"/>
                </a:solidFill>
                <a:latin typeface="Arial"/>
              </a:defRPr>
            </a:pPr>
            <a:r>
              <a:rPr>
                <a:solidFill/>
              </a:rPr>
              <a:t>BÁO CÁO DỰ ÁN • THÁNG 10 / 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Chi tiêu có ghi nhận. Ngân sách có định hướng.</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Vấn đề đặt ra và mục tiêu của hệ thống</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02 / 15</a:t>
            </a:r>
          </a:p>
        </p:txBody>
      </p:sp>
      <p:sp>
        <p:nvSpPr>
          <p:cNvPr id="9" name="Rounded Rectangle 8"/>
          <p:cNvSpPr/>
          <p:nvPr/>
        </p:nvSpPr>
        <p:spPr>
          <a:xfrm>
            <a:off x="508000" y="2070100"/>
            <a:ext cx="3505200" cy="33274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7620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8763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01</a:t>
            </a:r>
          </a:p>
        </p:txBody>
      </p:sp>
      <p:sp>
        <p:nvSpPr>
          <p:cNvPr id="12" name="TextBox 11"/>
          <p:cNvSpPr txBox="1"/>
          <p:nvPr/>
        </p:nvSpPr>
        <p:spPr>
          <a:xfrm>
            <a:off x="7620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Tiền nằm ở nhiều nơi</a:t>
            </a:r>
          </a:p>
        </p:txBody>
      </p:sp>
      <p:sp>
        <p:nvSpPr>
          <p:cNvPr id="13" name="TextBox 12"/>
          <p:cNvSpPr txBox="1"/>
          <p:nvPr/>
        </p:nvSpPr>
        <p:spPr>
          <a:xfrm>
            <a:off x="762000" y="3721100"/>
            <a:ext cx="2997200" cy="1549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Tiền mặt, tài khoản và ví điện tử</a:t>
            </a:r>
          </a:p>
          <a:p>
            <a:pPr algn="l">
              <a:lnSpc>
                <a:spcPts val="1968"/>
              </a:lnSpc>
              <a:spcBef>
                <a:spcPts val="0"/>
              </a:spcBef>
              <a:spcAft>
                <a:spcPts val="0"/>
              </a:spcAft>
              <a:defRPr sz="1600" b="0">
                <a:solidFill>
                  <a:srgbClr val="596153"/>
                </a:solidFill>
                <a:latin typeface="Arial"/>
              </a:defRPr>
            </a:pPr>
            <a:r>
              <a:rPr>
                <a:solidFill/>
              </a:rPr>
              <a:t>khiến việc tổng hợp số dư trở</a:t>
            </a:r>
          </a:p>
          <a:p>
            <a:pPr algn="l">
              <a:lnSpc>
                <a:spcPts val="1968"/>
              </a:lnSpc>
              <a:spcBef>
                <a:spcPts val="0"/>
              </a:spcBef>
              <a:spcAft>
                <a:spcPts val="0"/>
              </a:spcAft>
              <a:defRPr sz="1600" b="0">
                <a:solidFill>
                  <a:srgbClr val="596153"/>
                </a:solidFill>
                <a:latin typeface="Arial"/>
              </a:defRPr>
            </a:pPr>
            <a:r>
              <a:rPr>
                <a:solidFill/>
              </a:rPr>
              <a:t>nên khó khăn.</a:t>
            </a:r>
          </a:p>
        </p:txBody>
      </p:sp>
      <p:sp>
        <p:nvSpPr>
          <p:cNvPr id="14" name="Rounded Rectangle 13"/>
          <p:cNvSpPr/>
          <p:nvPr/>
        </p:nvSpPr>
        <p:spPr>
          <a:xfrm>
            <a:off x="4343400" y="2070100"/>
            <a:ext cx="3505200" cy="33274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Rounded Rectangle 14"/>
          <p:cNvSpPr/>
          <p:nvPr/>
        </p:nvSpPr>
        <p:spPr>
          <a:xfrm>
            <a:off x="45974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47117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02</a:t>
            </a:r>
          </a:p>
        </p:txBody>
      </p:sp>
      <p:sp>
        <p:nvSpPr>
          <p:cNvPr id="17" name="TextBox 16"/>
          <p:cNvSpPr txBox="1"/>
          <p:nvPr/>
        </p:nvSpPr>
        <p:spPr>
          <a:xfrm>
            <a:off x="45974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Khó hiểu dòng tiền</a:t>
            </a:r>
          </a:p>
        </p:txBody>
      </p:sp>
      <p:sp>
        <p:nvSpPr>
          <p:cNvPr id="18" name="TextBox 17"/>
          <p:cNvSpPr txBox="1"/>
          <p:nvPr/>
        </p:nvSpPr>
        <p:spPr>
          <a:xfrm>
            <a:off x="4597400" y="3721100"/>
            <a:ext cx="2997200" cy="1549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Người dùng cần biết tiền đến từ</a:t>
            </a:r>
          </a:p>
          <a:p>
            <a:pPr algn="l">
              <a:lnSpc>
                <a:spcPts val="1968"/>
              </a:lnSpc>
              <a:spcBef>
                <a:spcPts val="0"/>
              </a:spcBef>
              <a:spcAft>
                <a:spcPts val="0"/>
              </a:spcAft>
              <a:defRPr sz="1600" b="0">
                <a:solidFill>
                  <a:srgbClr val="596153"/>
                </a:solidFill>
                <a:latin typeface="Arial"/>
              </a:defRPr>
            </a:pPr>
            <a:r>
              <a:rPr>
                <a:solidFill/>
              </a:rPr>
              <a:t>đâu, chi vào việc gì và thay đổi</a:t>
            </a:r>
          </a:p>
          <a:p>
            <a:pPr algn="l">
              <a:lnSpc>
                <a:spcPts val="1968"/>
              </a:lnSpc>
              <a:spcBef>
                <a:spcPts val="0"/>
              </a:spcBef>
              <a:spcAft>
                <a:spcPts val="0"/>
              </a:spcAft>
              <a:defRPr sz="1600" b="0">
                <a:solidFill>
                  <a:srgbClr val="596153"/>
                </a:solidFill>
                <a:latin typeface="Arial"/>
              </a:defRPr>
            </a:pPr>
            <a:r>
              <a:rPr>
                <a:solidFill/>
              </a:rPr>
              <a:t>qua từng tháng.</a:t>
            </a:r>
          </a:p>
        </p:txBody>
      </p:sp>
      <p:sp>
        <p:nvSpPr>
          <p:cNvPr id="19" name="Rounded Rectangle 18"/>
          <p:cNvSpPr/>
          <p:nvPr/>
        </p:nvSpPr>
        <p:spPr>
          <a:xfrm>
            <a:off x="8178800" y="2070100"/>
            <a:ext cx="3505200" cy="33274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ounded Rectangle 19"/>
          <p:cNvSpPr/>
          <p:nvPr/>
        </p:nvSpPr>
        <p:spPr>
          <a:xfrm>
            <a:off x="84328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5471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03</a:t>
            </a:r>
          </a:p>
        </p:txBody>
      </p:sp>
      <p:sp>
        <p:nvSpPr>
          <p:cNvPr id="22" name="TextBox 21"/>
          <p:cNvSpPr txBox="1"/>
          <p:nvPr/>
        </p:nvSpPr>
        <p:spPr>
          <a:xfrm>
            <a:off x="84328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Thiếu kế hoạch cụ thể</a:t>
            </a:r>
          </a:p>
        </p:txBody>
      </p:sp>
      <p:sp>
        <p:nvSpPr>
          <p:cNvPr id="23" name="TextBox 22"/>
          <p:cNvSpPr txBox="1"/>
          <p:nvPr/>
        </p:nvSpPr>
        <p:spPr>
          <a:xfrm>
            <a:off x="8432800" y="3721100"/>
            <a:ext cx="2997200" cy="1549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Khoản chi bắt buộc và mục tiêu</a:t>
            </a:r>
          </a:p>
          <a:p>
            <a:pPr algn="l">
              <a:lnSpc>
                <a:spcPts val="1968"/>
              </a:lnSpc>
              <a:spcBef>
                <a:spcPts val="0"/>
              </a:spcBef>
              <a:spcAft>
                <a:spcPts val="0"/>
              </a:spcAft>
              <a:defRPr sz="1600" b="0">
                <a:solidFill>
                  <a:srgbClr val="596153"/>
                </a:solidFill>
                <a:latin typeface="Arial"/>
              </a:defRPr>
            </a:pPr>
            <a:r>
              <a:rPr>
                <a:solidFill/>
              </a:rPr>
              <a:t>tiết kiệm cần được cân đối trước</a:t>
            </a:r>
          </a:p>
          <a:p>
            <a:pPr algn="l">
              <a:lnSpc>
                <a:spcPts val="1968"/>
              </a:lnSpc>
              <a:spcBef>
                <a:spcPts val="0"/>
              </a:spcBef>
              <a:spcAft>
                <a:spcPts val="0"/>
              </a:spcAft>
              <a:defRPr sz="1600" b="0">
                <a:solidFill>
                  <a:srgbClr val="596153"/>
                </a:solidFill>
                <a:latin typeface="Arial"/>
              </a:defRPr>
            </a:pPr>
            <a:r>
              <a:rPr>
                <a:solidFill/>
              </a:rPr>
              <a:t>khi phân bổ chi tiêu.</a:t>
            </a:r>
          </a:p>
        </p:txBody>
      </p:sp>
      <p:sp>
        <p:nvSpPr>
          <p:cNvPr id="24" name="Rounded Rectangle 23"/>
          <p:cNvSpPr/>
          <p:nvPr/>
        </p:nvSpPr>
        <p:spPr>
          <a:xfrm>
            <a:off x="508000" y="5638800"/>
            <a:ext cx="11176000" cy="5461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723900" y="5791200"/>
            <a:ext cx="10744200" cy="3302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345D3E"/>
                </a:solidFill>
                <a:latin typeface="Arial"/>
              </a:defRPr>
            </a:pPr>
            <a:r>
              <a:rPr>
                <a:solidFill/>
              </a:rPr>
              <a:t>Mục tiêu: ghi nhận tập trung → nhìn rõ dòng tiền → lập ngân sách theo ưu tiên.</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Một MVP tập trung vào tài chính cá nhân</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Phạm vi và yêu cầu chính</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03 / 15</a:t>
            </a:r>
          </a:p>
        </p:txBody>
      </p:sp>
      <p:sp>
        <p:nvSpPr>
          <p:cNvPr id="9" name="Rounded Rectangle 8"/>
          <p:cNvSpPr/>
          <p:nvPr/>
        </p:nvSpPr>
        <p:spPr>
          <a:xfrm>
            <a:off x="508000" y="2019300"/>
            <a:ext cx="6934200" cy="40640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774700" y="2286000"/>
            <a:ext cx="6350000" cy="431800"/>
          </a:xfrm>
          <a:prstGeom prst="rect">
            <a:avLst/>
          </a:prstGeom>
          <a:noFill/>
          <a:ln>
            <a:solidFill/>
          </a:ln>
        </p:spPr>
        <p:txBody>
          <a:bodyPr wrap="none" lIns="0" rIns="0" tIns="0" bIns="0">
            <a:spAutoFit/>
          </a:bodyPr>
          <a:lstStyle/>
          <a:p>
            <a:pPr algn="l">
              <a:lnSpc>
                <a:spcPts val="2706"/>
              </a:lnSpc>
              <a:spcBef>
                <a:spcPts val="0"/>
              </a:spcBef>
              <a:spcAft>
                <a:spcPts val="0"/>
              </a:spcAft>
              <a:defRPr sz="2200" b="1">
                <a:solidFill>
                  <a:srgbClr val="222820"/>
                </a:solidFill>
                <a:latin typeface="Arial"/>
              </a:defRPr>
            </a:pPr>
            <a:r>
              <a:rPr>
                <a:solidFill/>
              </a:rPr>
              <a:t>Chức năng cần có</a:t>
            </a:r>
          </a:p>
        </p:txBody>
      </p:sp>
      <p:sp>
        <p:nvSpPr>
          <p:cNvPr id="11" name="Rounded Rectangle 10"/>
          <p:cNvSpPr/>
          <p:nvPr/>
        </p:nvSpPr>
        <p:spPr>
          <a:xfrm>
            <a:off x="774700" y="2946400"/>
            <a:ext cx="15621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TextBox 11"/>
          <p:cNvSpPr txBox="1"/>
          <p:nvPr/>
        </p:nvSpPr>
        <p:spPr>
          <a:xfrm>
            <a:off x="889000" y="3009900"/>
            <a:ext cx="1333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Tài khoản</a:t>
            </a:r>
          </a:p>
        </p:txBody>
      </p:sp>
      <p:sp>
        <p:nvSpPr>
          <p:cNvPr id="13" name="TextBox 12"/>
          <p:cNvSpPr txBox="1"/>
          <p:nvPr/>
        </p:nvSpPr>
        <p:spPr>
          <a:xfrm>
            <a:off x="2552700" y="2997200"/>
            <a:ext cx="4584700" cy="533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Đăng ký, đăng nhập, đổi mật khẩu</a:t>
            </a:r>
          </a:p>
        </p:txBody>
      </p:sp>
      <p:sp>
        <p:nvSpPr>
          <p:cNvPr id="14" name="Rounded Rectangle 13"/>
          <p:cNvSpPr/>
          <p:nvPr/>
        </p:nvSpPr>
        <p:spPr>
          <a:xfrm>
            <a:off x="774700" y="3670300"/>
            <a:ext cx="15621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TextBox 14"/>
          <p:cNvSpPr txBox="1"/>
          <p:nvPr/>
        </p:nvSpPr>
        <p:spPr>
          <a:xfrm>
            <a:off x="889000" y="3733800"/>
            <a:ext cx="1333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Ghi chép</a:t>
            </a:r>
          </a:p>
        </p:txBody>
      </p:sp>
      <p:sp>
        <p:nvSpPr>
          <p:cNvPr id="16" name="TextBox 15"/>
          <p:cNvSpPr txBox="1"/>
          <p:nvPr/>
        </p:nvSpPr>
        <p:spPr>
          <a:xfrm>
            <a:off x="2552700" y="3721100"/>
            <a:ext cx="4584700" cy="533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Ví, danh mục, thu / chi / chuyển ví</a:t>
            </a:r>
          </a:p>
        </p:txBody>
      </p:sp>
      <p:sp>
        <p:nvSpPr>
          <p:cNvPr id="17" name="Rounded Rectangle 16"/>
          <p:cNvSpPr/>
          <p:nvPr/>
        </p:nvSpPr>
        <p:spPr>
          <a:xfrm>
            <a:off x="774700" y="4394200"/>
            <a:ext cx="15621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889000" y="4457700"/>
            <a:ext cx="1333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Lập kế hoạch</a:t>
            </a:r>
          </a:p>
        </p:txBody>
      </p:sp>
      <p:sp>
        <p:nvSpPr>
          <p:cNvPr id="19" name="TextBox 18"/>
          <p:cNvSpPr txBox="1"/>
          <p:nvPr/>
        </p:nvSpPr>
        <p:spPr>
          <a:xfrm>
            <a:off x="2552700" y="4445000"/>
            <a:ext cx="4584700" cy="533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Ngân sách tự động hoặc thủ công</a:t>
            </a:r>
          </a:p>
        </p:txBody>
      </p:sp>
      <p:sp>
        <p:nvSpPr>
          <p:cNvPr id="20" name="Rounded Rectangle 19"/>
          <p:cNvSpPr/>
          <p:nvPr/>
        </p:nvSpPr>
        <p:spPr>
          <a:xfrm>
            <a:off x="774700" y="5118100"/>
            <a:ext cx="15621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89000" y="5181600"/>
            <a:ext cx="1333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Theo dõi</a:t>
            </a:r>
          </a:p>
        </p:txBody>
      </p:sp>
      <p:sp>
        <p:nvSpPr>
          <p:cNvPr id="22" name="TextBox 21"/>
          <p:cNvSpPr txBox="1"/>
          <p:nvPr/>
        </p:nvSpPr>
        <p:spPr>
          <a:xfrm>
            <a:off x="2552700" y="5168900"/>
            <a:ext cx="4584700" cy="5334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Dashboard, báo cáo, cảnh báo, CSV</a:t>
            </a:r>
          </a:p>
        </p:txBody>
      </p:sp>
      <p:sp>
        <p:nvSpPr>
          <p:cNvPr id="23" name="Rounded Rectangle 22"/>
          <p:cNvSpPr/>
          <p:nvPr/>
        </p:nvSpPr>
        <p:spPr>
          <a:xfrm>
            <a:off x="7721600" y="2019300"/>
            <a:ext cx="3962400" cy="19431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TextBox 23"/>
          <p:cNvSpPr txBox="1"/>
          <p:nvPr/>
        </p:nvSpPr>
        <p:spPr>
          <a:xfrm>
            <a:off x="7975600" y="2273300"/>
            <a:ext cx="3441700" cy="3810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222820"/>
                </a:solidFill>
                <a:latin typeface="Arial"/>
              </a:defRPr>
            </a:pPr>
            <a:r>
              <a:rPr>
                <a:solidFill/>
              </a:rPr>
              <a:t>Giới hạn nghiệp vụ</a:t>
            </a:r>
          </a:p>
        </p:txBody>
      </p:sp>
      <p:sp>
        <p:nvSpPr>
          <p:cNvPr id="25" name="TextBox 24"/>
          <p:cNvSpPr txBox="1"/>
          <p:nvPr/>
        </p:nvSpPr>
        <p:spPr>
          <a:xfrm>
            <a:off x="7975600" y="2857500"/>
            <a:ext cx="3416300" cy="9652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Một người dùng / dữ liệu riêng</a:t>
            </a:r>
          </a:p>
          <a:p>
            <a:pPr algn="l">
              <a:lnSpc>
                <a:spcPts val="1968"/>
              </a:lnSpc>
              <a:spcBef>
                <a:spcPts val="0"/>
              </a:spcBef>
              <a:spcAft>
                <a:spcPts val="0"/>
              </a:spcAft>
              <a:defRPr sz="1600" b="0">
                <a:solidFill>
                  <a:srgbClr val="222820"/>
                </a:solidFill>
                <a:latin typeface="Arial"/>
              </a:defRPr>
            </a:pPr>
            <a:r>
              <a:rPr>
                <a:solidFill/>
              </a:rPr>
              <a:t>Tiền VND • ngân sách tháng</a:t>
            </a:r>
          </a:p>
          <a:p>
            <a:pPr algn="l">
              <a:lnSpc>
                <a:spcPts val="1968"/>
              </a:lnSpc>
              <a:spcBef>
                <a:spcPts val="0"/>
              </a:spcBef>
              <a:spcAft>
                <a:spcPts val="0"/>
              </a:spcAft>
              <a:defRPr sz="1600" b="0">
                <a:solidFill>
                  <a:srgbClr val="222820"/>
                </a:solidFill>
                <a:latin typeface="Arial"/>
              </a:defRPr>
            </a:pPr>
            <a:r>
              <a:rPr>
                <a:solidFill/>
              </a:rPr>
              <a:t>Múi giờ Việt Nam</a:t>
            </a:r>
          </a:p>
        </p:txBody>
      </p:sp>
      <p:sp>
        <p:nvSpPr>
          <p:cNvPr id="26" name="Rounded Rectangle 25"/>
          <p:cNvSpPr/>
          <p:nvPr/>
        </p:nvSpPr>
        <p:spPr>
          <a:xfrm>
            <a:off x="7721600" y="4191000"/>
            <a:ext cx="3962400" cy="18923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TextBox 26"/>
          <p:cNvSpPr txBox="1"/>
          <p:nvPr/>
        </p:nvSpPr>
        <p:spPr>
          <a:xfrm>
            <a:off x="7975600" y="4445000"/>
            <a:ext cx="3454400" cy="3810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345D3E"/>
                </a:solidFill>
                <a:latin typeface="Arial"/>
              </a:defRPr>
            </a:pPr>
            <a:r>
              <a:rPr>
                <a:solidFill/>
              </a:rPr>
              <a:t>Yêu cầu chất lượng</a:t>
            </a:r>
          </a:p>
        </p:txBody>
      </p:sp>
      <p:sp>
        <p:nvSpPr>
          <p:cNvPr id="28" name="TextBox 27"/>
          <p:cNvSpPr txBox="1"/>
          <p:nvPr/>
        </p:nvSpPr>
        <p:spPr>
          <a:xfrm>
            <a:off x="7975600" y="4978400"/>
            <a:ext cx="3441700" cy="9652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345D3E"/>
                </a:solidFill>
                <a:latin typeface="Arial"/>
              </a:defRPr>
            </a:pPr>
            <a:r>
              <a:rPr>
                <a:solidFill/>
              </a:rPr>
              <a:t>Chính xác từng đồng</a:t>
            </a:r>
          </a:p>
          <a:p>
            <a:pPr algn="l">
              <a:lnSpc>
                <a:spcPts val="1968"/>
              </a:lnSpc>
              <a:spcBef>
                <a:spcPts val="0"/>
              </a:spcBef>
              <a:spcAft>
                <a:spcPts val="0"/>
              </a:spcAft>
              <a:defRPr sz="1600" b="0">
                <a:solidFill>
                  <a:srgbClr val="345D3E"/>
                </a:solidFill>
                <a:latin typeface="Arial"/>
              </a:defRPr>
            </a:pPr>
            <a:r>
              <a:rPr>
                <a:solidFill/>
              </a:rPr>
              <a:t>Kiểm tra quyền sở hữu dữ liệu</a:t>
            </a:r>
          </a:p>
          <a:p>
            <a:pPr algn="l">
              <a:lnSpc>
                <a:spcPts val="1968"/>
              </a:lnSpc>
              <a:spcBef>
                <a:spcPts val="0"/>
              </a:spcBef>
              <a:spcAft>
                <a:spcPts val="0"/>
              </a:spcAft>
              <a:defRPr sz="1600" b="0">
                <a:solidFill>
                  <a:srgbClr val="345D3E"/>
                </a:solidFill>
                <a:latin typeface="Arial"/>
              </a:defRPr>
            </a:pPr>
            <a:r>
              <a:rPr>
                <a:solidFill/>
              </a:rPr>
              <a:t>Responsive, giảm chuyển động</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Người dùng là trung tâm của các nghiệp vụ</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Sơ đồ chức năng theo tác nhân — mức tổng quan</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04 / 15</a:t>
            </a:r>
          </a:p>
        </p:txBody>
      </p:sp>
      <p:sp>
        <p:nvSpPr>
          <p:cNvPr id="9" name="Rounded Rectangle 8"/>
          <p:cNvSpPr/>
          <p:nvPr/>
        </p:nvSpPr>
        <p:spPr>
          <a:xfrm>
            <a:off x="3848100" y="1993900"/>
            <a:ext cx="7835900" cy="41529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4140200" y="2184400"/>
            <a:ext cx="6985000" cy="304800"/>
          </a:xfrm>
          <a:prstGeom prst="rect">
            <a:avLst/>
          </a:prstGeom>
          <a:noFill/>
          <a:ln>
            <a:solidFill/>
          </a:ln>
        </p:spPr>
        <p:txBody>
          <a:bodyPr wrap="none" lIns="0" rIns="0" tIns="0" bIns="0">
            <a:spAutoFit/>
          </a:bodyPr>
          <a:lstStyle/>
          <a:p>
            <a:pPr algn="l">
              <a:lnSpc>
                <a:spcPts val="1353"/>
              </a:lnSpc>
              <a:spcBef>
                <a:spcPts val="0"/>
              </a:spcBef>
              <a:spcAft>
                <a:spcPts val="0"/>
              </a:spcAft>
              <a:defRPr sz="1100" b="1">
                <a:solidFill>
                  <a:srgbClr val="596153"/>
                </a:solidFill>
                <a:latin typeface="Arial"/>
              </a:defRPr>
            </a:pPr>
            <a:r>
              <a:rPr>
                <a:solidFill/>
              </a:rPr>
              <a:t>HỆ THỐNG FINORA</a:t>
            </a:r>
          </a:p>
        </p:txBody>
      </p:sp>
      <p:sp>
        <p:nvSpPr>
          <p:cNvPr id="11" name="Oval 10"/>
          <p:cNvSpPr/>
          <p:nvPr/>
        </p:nvSpPr>
        <p:spPr>
          <a:xfrm>
            <a:off x="1282700" y="3136900"/>
            <a:ext cx="609600" cy="6096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Rounded Rectangle 11"/>
          <p:cNvSpPr/>
          <p:nvPr/>
        </p:nvSpPr>
        <p:spPr>
          <a:xfrm>
            <a:off x="1003300" y="3886200"/>
            <a:ext cx="1168400" cy="7747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22300" y="4889500"/>
            <a:ext cx="1905000" cy="342900"/>
          </a:xfrm>
          <a:prstGeom prst="rect">
            <a:avLst/>
          </a:prstGeom>
          <a:noFill/>
          <a:ln>
            <a:solidFill/>
          </a:ln>
        </p:spPr>
        <p:txBody>
          <a:bodyPr wrap="none" lIns="0" rIns="0" tIns="0" bIns="0">
            <a:spAutoFit/>
          </a:bodyPr>
          <a:lstStyle/>
          <a:p>
            <a:pPr algn="ctr">
              <a:lnSpc>
                <a:spcPts val="2460"/>
              </a:lnSpc>
              <a:spcBef>
                <a:spcPts val="0"/>
              </a:spcBef>
              <a:spcAft>
                <a:spcPts val="0"/>
              </a:spcAft>
              <a:defRPr sz="2000" b="1">
                <a:solidFill>
                  <a:srgbClr val="222820"/>
                </a:solidFill>
                <a:latin typeface="Arial"/>
              </a:defRPr>
            </a:pPr>
            <a:r>
              <a:rPr>
                <a:solidFill/>
              </a:rPr>
              <a:t>Người dùng</a:t>
            </a:r>
          </a:p>
        </p:txBody>
      </p:sp>
      <p:cxnSp>
        <p:nvCxnSpPr>
          <p:cNvPr id="14" name="Connector 13"/>
          <p:cNvCxnSpPr/>
          <p:nvPr/>
        </p:nvCxnSpPr>
        <p:spPr>
          <a:xfrm>
            <a:off x="2222500" y="4064000"/>
            <a:ext cx="1181100" cy="0"/>
          </a:xfrm>
          <a:prstGeom prst="line">
            <a:avLst/>
          </a:prstGeom>
          <a:ln w="25400">
            <a:solidFill>
              <a:srgbClr val="6840C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03600" y="3048000"/>
            <a:ext cx="0" cy="2413000"/>
          </a:xfrm>
          <a:prstGeom prst="line">
            <a:avLst/>
          </a:prstGeom>
          <a:ln w="25400">
            <a:solidFill>
              <a:srgbClr val="6840C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03600" y="3048000"/>
            <a:ext cx="7366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140200" y="27432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4292600" y="29210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Quản lý tài khoản</a:t>
            </a:r>
          </a:p>
        </p:txBody>
      </p:sp>
      <p:cxnSp>
        <p:nvCxnSpPr>
          <p:cNvPr id="19" name="Connector 18"/>
          <p:cNvCxnSpPr/>
          <p:nvPr/>
        </p:nvCxnSpPr>
        <p:spPr>
          <a:xfrm>
            <a:off x="3403600" y="3048000"/>
            <a:ext cx="45212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924800" y="27432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077200" y="29210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Quản lý ví &amp; danh mục</a:t>
            </a:r>
          </a:p>
        </p:txBody>
      </p:sp>
      <p:cxnSp>
        <p:nvCxnSpPr>
          <p:cNvPr id="22" name="Connector 21"/>
          <p:cNvCxnSpPr/>
          <p:nvPr/>
        </p:nvCxnSpPr>
        <p:spPr>
          <a:xfrm>
            <a:off x="3403600" y="4203700"/>
            <a:ext cx="7366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140200" y="38989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TextBox 23"/>
          <p:cNvSpPr txBox="1"/>
          <p:nvPr/>
        </p:nvSpPr>
        <p:spPr>
          <a:xfrm>
            <a:off x="4292600" y="40767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Ghi nhận giao dịch</a:t>
            </a:r>
          </a:p>
        </p:txBody>
      </p:sp>
      <p:cxnSp>
        <p:nvCxnSpPr>
          <p:cNvPr id="25" name="Connector 24"/>
          <p:cNvCxnSpPr/>
          <p:nvPr/>
        </p:nvCxnSpPr>
        <p:spPr>
          <a:xfrm>
            <a:off x="3403600" y="4203700"/>
            <a:ext cx="45212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924800" y="38989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TextBox 26"/>
          <p:cNvSpPr txBox="1"/>
          <p:nvPr/>
        </p:nvSpPr>
        <p:spPr>
          <a:xfrm>
            <a:off x="8077200" y="40767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Lập ngân sách tháng</a:t>
            </a:r>
          </a:p>
        </p:txBody>
      </p:sp>
      <p:cxnSp>
        <p:nvCxnSpPr>
          <p:cNvPr id="28" name="Connector 27"/>
          <p:cNvCxnSpPr/>
          <p:nvPr/>
        </p:nvCxnSpPr>
        <p:spPr>
          <a:xfrm>
            <a:off x="3403600" y="5359400"/>
            <a:ext cx="7366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40200" y="50546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TextBox 29"/>
          <p:cNvSpPr txBox="1"/>
          <p:nvPr/>
        </p:nvSpPr>
        <p:spPr>
          <a:xfrm>
            <a:off x="4292600" y="52324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Xem báo cáo</a:t>
            </a:r>
          </a:p>
        </p:txBody>
      </p:sp>
      <p:cxnSp>
        <p:nvCxnSpPr>
          <p:cNvPr id="31" name="Connector 30"/>
          <p:cNvCxnSpPr/>
          <p:nvPr/>
        </p:nvCxnSpPr>
        <p:spPr>
          <a:xfrm>
            <a:off x="3403600" y="5359400"/>
            <a:ext cx="4521200" cy="0"/>
          </a:xfrm>
          <a:prstGeom prst="line">
            <a:avLst/>
          </a:prstGeom>
          <a:ln w="12700">
            <a:solidFill>
              <a:srgbClr val="DCE1D5"/>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924800" y="5054600"/>
            <a:ext cx="3454400" cy="647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8077200" y="5232400"/>
            <a:ext cx="3149600" cy="368300"/>
          </a:xfrm>
          <a:prstGeom prst="rect">
            <a:avLst/>
          </a:prstGeom>
          <a:noFill/>
          <a:ln>
            <a:solidFill/>
          </a:ln>
        </p:spPr>
        <p:txBody>
          <a:bodyPr wrap="none" lIns="0" rIns="0" tIns="0" bIns="0">
            <a:spAutoFit/>
          </a:bodyPr>
          <a:lstStyle/>
          <a:p>
            <a:pPr algn="ctr">
              <a:lnSpc>
                <a:spcPts val="2091"/>
              </a:lnSpc>
              <a:spcBef>
                <a:spcPts val="0"/>
              </a:spcBef>
              <a:spcAft>
                <a:spcPts val="0"/>
              </a:spcAft>
              <a:defRPr sz="1700" b="1">
                <a:solidFill>
                  <a:srgbClr val="6840C6"/>
                </a:solidFill>
                <a:latin typeface="Arial"/>
              </a:defRPr>
            </a:pPr>
            <a:r>
              <a:rPr>
                <a:solidFill/>
              </a:rPr>
              <a:t>Xuất dữ liệu CSV</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TypeScript xuyên suốt frontend và backend</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Kiến trúc ba lớp • REST API • cùng origin khi chạy production</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05 / 15</a:t>
            </a:r>
          </a:p>
        </p:txBody>
      </p:sp>
      <p:sp>
        <p:nvSpPr>
          <p:cNvPr id="9" name="Rounded Rectangle 8"/>
          <p:cNvSpPr/>
          <p:nvPr/>
        </p:nvSpPr>
        <p:spPr>
          <a:xfrm>
            <a:off x="508000" y="2286000"/>
            <a:ext cx="3302000" cy="28956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762000" y="2565400"/>
            <a:ext cx="2794000" cy="406400"/>
          </a:xfrm>
          <a:prstGeom prst="rect">
            <a:avLst/>
          </a:prstGeom>
          <a:noFill/>
          <a:ln>
            <a:solidFill/>
          </a:ln>
        </p:spPr>
        <p:txBody>
          <a:bodyPr wrap="none" lIns="0" rIns="0" tIns="0" bIns="0">
            <a:spAutoFit/>
          </a:bodyPr>
          <a:lstStyle/>
          <a:p>
            <a:pPr algn="l">
              <a:lnSpc>
                <a:spcPts val="2706"/>
              </a:lnSpc>
              <a:spcBef>
                <a:spcPts val="0"/>
              </a:spcBef>
              <a:spcAft>
                <a:spcPts val="0"/>
              </a:spcAft>
              <a:defRPr sz="2200" b="1">
                <a:solidFill>
                  <a:srgbClr val="222820"/>
                </a:solidFill>
                <a:latin typeface="Arial"/>
              </a:defRPr>
            </a:pPr>
            <a:r>
              <a:rPr>
                <a:solidFill/>
              </a:rPr>
              <a:t>Giao diện</a:t>
            </a:r>
          </a:p>
        </p:txBody>
      </p:sp>
      <p:sp>
        <p:nvSpPr>
          <p:cNvPr id="11" name="TextBox 10"/>
          <p:cNvSpPr txBox="1"/>
          <p:nvPr/>
        </p:nvSpPr>
        <p:spPr>
          <a:xfrm>
            <a:off x="762000" y="3149600"/>
            <a:ext cx="27940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React 19 + TypeScript</a:t>
            </a:r>
          </a:p>
        </p:txBody>
      </p:sp>
      <p:sp>
        <p:nvSpPr>
          <p:cNvPr id="12" name="TextBox 11"/>
          <p:cNvSpPr txBox="1"/>
          <p:nvPr/>
        </p:nvSpPr>
        <p:spPr>
          <a:xfrm>
            <a:off x="762000" y="3733800"/>
            <a:ext cx="2794000" cy="1257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Vite • CSS theo token</a:t>
            </a:r>
          </a:p>
          <a:p>
            <a:pPr algn="l">
              <a:lnSpc>
                <a:spcPts val="1968"/>
              </a:lnSpc>
              <a:spcBef>
                <a:spcPts val="0"/>
              </a:spcBef>
              <a:spcAft>
                <a:spcPts val="0"/>
              </a:spcAft>
              <a:defRPr sz="1600" b="0">
                <a:solidFill>
                  <a:srgbClr val="596153"/>
                </a:solidFill>
                <a:latin typeface="Arial"/>
              </a:defRPr>
            </a:pPr>
            <a:r>
              <a:rPr>
                <a:solidFill/>
              </a:rPr>
              <a:t>Motion • Recharts</a:t>
            </a:r>
          </a:p>
          <a:p>
            <a:pPr algn="l">
              <a:lnSpc>
                <a:spcPts val="1968"/>
              </a:lnSpc>
              <a:spcBef>
                <a:spcPts val="0"/>
              </a:spcBef>
              <a:spcAft>
                <a:spcPts val="0"/>
              </a:spcAft>
              <a:defRPr sz="1600" b="0">
                <a:solidFill>
                  <a:srgbClr val="596153"/>
                </a:solidFill>
                <a:latin typeface="Arial"/>
              </a:defRPr>
            </a:pPr>
            <a:r>
              <a:rPr>
                <a:solidFill/>
              </a:rPr>
              <a:t>Trang và form theo tính năng</a:t>
            </a:r>
          </a:p>
        </p:txBody>
      </p:sp>
      <p:sp>
        <p:nvSpPr>
          <p:cNvPr id="13" name="Rounded Rectangle 12"/>
          <p:cNvSpPr/>
          <p:nvPr/>
        </p:nvSpPr>
        <p:spPr>
          <a:xfrm>
            <a:off x="4445000" y="2286000"/>
            <a:ext cx="3302000" cy="28956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TextBox 13"/>
          <p:cNvSpPr txBox="1"/>
          <p:nvPr/>
        </p:nvSpPr>
        <p:spPr>
          <a:xfrm>
            <a:off x="4699000" y="2565400"/>
            <a:ext cx="2794000" cy="406400"/>
          </a:xfrm>
          <a:prstGeom prst="rect">
            <a:avLst/>
          </a:prstGeom>
          <a:noFill/>
          <a:ln>
            <a:solidFill/>
          </a:ln>
        </p:spPr>
        <p:txBody>
          <a:bodyPr wrap="none" lIns="0" rIns="0" tIns="0" bIns="0">
            <a:spAutoFit/>
          </a:bodyPr>
          <a:lstStyle/>
          <a:p>
            <a:pPr algn="l">
              <a:lnSpc>
                <a:spcPts val="2706"/>
              </a:lnSpc>
              <a:spcBef>
                <a:spcPts val="0"/>
              </a:spcBef>
              <a:spcAft>
                <a:spcPts val="0"/>
              </a:spcAft>
              <a:defRPr sz="2200" b="1">
                <a:solidFill>
                  <a:srgbClr val="222820"/>
                </a:solidFill>
                <a:latin typeface="Arial"/>
              </a:defRPr>
            </a:pPr>
            <a:r>
              <a:rPr>
                <a:solidFill/>
              </a:rPr>
              <a:t>Nghiệp vụ</a:t>
            </a:r>
          </a:p>
        </p:txBody>
      </p:sp>
      <p:sp>
        <p:nvSpPr>
          <p:cNvPr id="15" name="TextBox 14"/>
          <p:cNvSpPr txBox="1"/>
          <p:nvPr/>
        </p:nvSpPr>
        <p:spPr>
          <a:xfrm>
            <a:off x="4699000" y="3149600"/>
            <a:ext cx="27940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NestJS 11</a:t>
            </a:r>
          </a:p>
        </p:txBody>
      </p:sp>
      <p:sp>
        <p:nvSpPr>
          <p:cNvPr id="16" name="TextBox 15"/>
          <p:cNvSpPr txBox="1"/>
          <p:nvPr/>
        </p:nvSpPr>
        <p:spPr>
          <a:xfrm>
            <a:off x="4699000" y="3733800"/>
            <a:ext cx="2794000" cy="1257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Accounts / SessionGuard</a:t>
            </a:r>
          </a:p>
          <a:p>
            <a:pPr algn="l">
              <a:lnSpc>
                <a:spcPts val="1968"/>
              </a:lnSpc>
              <a:spcBef>
                <a:spcPts val="0"/>
              </a:spcBef>
              <a:spcAft>
                <a:spcPts val="0"/>
              </a:spcAft>
              <a:defRPr sz="1600" b="0">
                <a:solidFill>
                  <a:srgbClr val="596153"/>
                </a:solidFill>
                <a:latin typeface="Arial"/>
              </a:defRPr>
            </a:pPr>
            <a:r>
              <a:rPr>
                <a:solidFill/>
              </a:rPr>
              <a:t>Wallets / Transactions</a:t>
            </a:r>
          </a:p>
          <a:p>
            <a:pPr algn="l">
              <a:lnSpc>
                <a:spcPts val="1968"/>
              </a:lnSpc>
              <a:spcBef>
                <a:spcPts val="0"/>
              </a:spcBef>
              <a:spcAft>
                <a:spcPts val="0"/>
              </a:spcAft>
              <a:defRPr sz="1600" b="0">
                <a:solidFill>
                  <a:srgbClr val="596153"/>
                </a:solidFill>
                <a:latin typeface="Arial"/>
              </a:defRPr>
            </a:pPr>
            <a:r>
              <a:rPr>
                <a:solidFill/>
              </a:rPr>
              <a:t>Budgets / Reports</a:t>
            </a:r>
          </a:p>
        </p:txBody>
      </p:sp>
      <p:sp>
        <p:nvSpPr>
          <p:cNvPr id="17" name="Rounded Rectangle 16"/>
          <p:cNvSpPr/>
          <p:nvPr/>
        </p:nvSpPr>
        <p:spPr>
          <a:xfrm>
            <a:off x="8382000" y="2286000"/>
            <a:ext cx="3302000" cy="28956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8636000" y="2565400"/>
            <a:ext cx="2794000" cy="406400"/>
          </a:xfrm>
          <a:prstGeom prst="rect">
            <a:avLst/>
          </a:prstGeom>
          <a:noFill/>
          <a:ln>
            <a:solidFill/>
          </a:ln>
        </p:spPr>
        <p:txBody>
          <a:bodyPr wrap="none" lIns="0" rIns="0" tIns="0" bIns="0">
            <a:spAutoFit/>
          </a:bodyPr>
          <a:lstStyle/>
          <a:p>
            <a:pPr algn="l">
              <a:lnSpc>
                <a:spcPts val="2706"/>
              </a:lnSpc>
              <a:spcBef>
                <a:spcPts val="0"/>
              </a:spcBef>
              <a:spcAft>
                <a:spcPts val="0"/>
              </a:spcAft>
              <a:defRPr sz="2200" b="1">
                <a:solidFill>
                  <a:srgbClr val="222820"/>
                </a:solidFill>
                <a:latin typeface="Arial"/>
              </a:defRPr>
            </a:pPr>
            <a:r>
              <a:rPr>
                <a:solidFill/>
              </a:rPr>
              <a:t>Dữ liệu</a:t>
            </a:r>
          </a:p>
        </p:txBody>
      </p:sp>
      <p:sp>
        <p:nvSpPr>
          <p:cNvPr id="19" name="TextBox 18"/>
          <p:cNvSpPr txBox="1"/>
          <p:nvPr/>
        </p:nvSpPr>
        <p:spPr>
          <a:xfrm>
            <a:off x="8636000" y="3149600"/>
            <a:ext cx="27940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PostgreSQL 17</a:t>
            </a:r>
          </a:p>
        </p:txBody>
      </p:sp>
      <p:sp>
        <p:nvSpPr>
          <p:cNvPr id="20" name="TextBox 19"/>
          <p:cNvSpPr txBox="1"/>
          <p:nvPr/>
        </p:nvSpPr>
        <p:spPr>
          <a:xfrm>
            <a:off x="8636000" y="3733800"/>
            <a:ext cx="2794000" cy="1257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Prisma 6.19 + pg</a:t>
            </a:r>
          </a:p>
          <a:p>
            <a:pPr algn="l">
              <a:lnSpc>
                <a:spcPts val="1968"/>
              </a:lnSpc>
              <a:spcBef>
                <a:spcPts val="0"/>
              </a:spcBef>
              <a:spcAft>
                <a:spcPts val="0"/>
              </a:spcAft>
              <a:defRPr sz="1600" b="0">
                <a:solidFill>
                  <a:srgbClr val="596153"/>
                </a:solidFill>
                <a:latin typeface="Arial"/>
              </a:defRPr>
            </a:pPr>
            <a:r>
              <a:rPr>
                <a:solidFill/>
              </a:rPr>
              <a:t>BIGINT • ràng buộc SQL</a:t>
            </a:r>
          </a:p>
          <a:p>
            <a:pPr algn="l">
              <a:lnSpc>
                <a:spcPts val="1968"/>
              </a:lnSpc>
              <a:spcBef>
                <a:spcPts val="0"/>
              </a:spcBef>
              <a:spcAft>
                <a:spcPts val="0"/>
              </a:spcAft>
              <a:defRPr sz="1600" b="0">
                <a:solidFill>
                  <a:srgbClr val="596153"/>
                </a:solidFill>
                <a:latin typeface="Arial"/>
              </a:defRPr>
            </a:pPr>
            <a:r>
              <a:rPr>
                <a:solidFill/>
              </a:rPr>
              <a:t>Lưu lịch sử kế hoạch</a:t>
            </a:r>
          </a:p>
        </p:txBody>
      </p:sp>
      <p:cxnSp>
        <p:nvCxnSpPr>
          <p:cNvPr id="21" name="Connector 20"/>
          <p:cNvCxnSpPr/>
          <p:nvPr/>
        </p:nvCxnSpPr>
        <p:spPr>
          <a:xfrm>
            <a:off x="3860800" y="3670300"/>
            <a:ext cx="495300" cy="0"/>
          </a:xfrm>
          <a:prstGeom prst="line">
            <a:avLst/>
          </a:prstGeom>
          <a:ln w="25400">
            <a:solidFill>
              <a:srgbClr val="6840C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797800" y="3670300"/>
            <a:ext cx="495300" cy="0"/>
          </a:xfrm>
          <a:prstGeom prst="line">
            <a:avLst/>
          </a:prstGeom>
          <a:ln w="25400">
            <a:solidFill>
              <a:srgbClr val="6840C6"/>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56000" y="5435600"/>
            <a:ext cx="3429000" cy="304800"/>
          </a:xfrm>
          <a:prstGeom prst="rect">
            <a:avLst/>
          </a:prstGeom>
          <a:noFill/>
          <a:ln>
            <a:solidFill/>
          </a:ln>
        </p:spPr>
        <p:txBody>
          <a:bodyPr wrap="none" lIns="0" rIns="0" tIns="0" bIns="0">
            <a:spAutoFit/>
          </a:bodyPr>
          <a:lstStyle/>
          <a:p>
            <a:pPr algn="ctr">
              <a:lnSpc>
                <a:spcPts val="1599"/>
              </a:lnSpc>
              <a:spcBef>
                <a:spcPts val="0"/>
              </a:spcBef>
              <a:spcAft>
                <a:spcPts val="0"/>
              </a:spcAft>
              <a:defRPr sz="1300" b="0">
                <a:solidFill>
                  <a:srgbClr val="596153"/>
                </a:solidFill>
                <a:latin typeface="Arial"/>
              </a:defRPr>
            </a:pPr>
            <a:r>
              <a:rPr>
                <a:solidFill/>
              </a:rPr>
              <a:t>JSON + cookie phiên</a:t>
            </a:r>
          </a:p>
        </p:txBody>
      </p:sp>
      <p:sp>
        <p:nvSpPr>
          <p:cNvPr id="24" name="TextBox 23"/>
          <p:cNvSpPr txBox="1"/>
          <p:nvPr/>
        </p:nvSpPr>
        <p:spPr>
          <a:xfrm>
            <a:off x="7518400" y="5435600"/>
            <a:ext cx="3429000" cy="304800"/>
          </a:xfrm>
          <a:prstGeom prst="rect">
            <a:avLst/>
          </a:prstGeom>
          <a:noFill/>
          <a:ln>
            <a:solidFill/>
          </a:ln>
        </p:spPr>
        <p:txBody>
          <a:bodyPr wrap="none" lIns="0" rIns="0" tIns="0" bIns="0">
            <a:spAutoFit/>
          </a:bodyPr>
          <a:lstStyle/>
          <a:p>
            <a:pPr algn="ctr">
              <a:lnSpc>
                <a:spcPts val="1599"/>
              </a:lnSpc>
              <a:spcBef>
                <a:spcPts val="0"/>
              </a:spcBef>
              <a:spcAft>
                <a:spcPts val="0"/>
              </a:spcAft>
              <a:defRPr sz="1300" b="0">
                <a:solidFill>
                  <a:srgbClr val="596153"/>
                </a:solidFill>
                <a:latin typeface="Arial"/>
              </a:defRPr>
            </a:pPr>
            <a:r>
              <a:rPr>
                <a:solidFill/>
              </a:rPr>
              <a:t>Truy vấn có tham số</a:t>
            </a:r>
          </a:p>
        </p:txBody>
      </p:sp>
      <p:sp>
        <p:nvSpPr>
          <p:cNvPr id="25" name="TextBox 24"/>
          <p:cNvSpPr txBox="1"/>
          <p:nvPr/>
        </p:nvSpPr>
        <p:spPr>
          <a:xfrm>
            <a:off x="508000" y="5930900"/>
            <a:ext cx="111760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Frontend gửi yêu cầu; backend xác thực, kiểm tra dữ liệu và quyết định nghiệp vụ.</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Bảy thực thể cốt lõi, một nguồn dữ liệu nhất quán</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Mô hình dữ liệu rút gọn • 1:N là quan hệ một–nhiều</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06 / 15</a:t>
            </a:r>
          </a:p>
        </p:txBody>
      </p:sp>
      <p:cxnSp>
        <p:nvCxnSpPr>
          <p:cNvPr id="9" name="Connector 8"/>
          <p:cNvCxnSpPr/>
          <p:nvPr/>
        </p:nvCxnSpPr>
        <p:spPr>
          <a:xfrm>
            <a:off x="6096000" y="2959100"/>
            <a:ext cx="0" cy="45720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765300" y="3416300"/>
            <a:ext cx="8661400" cy="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65300" y="3416300"/>
            <a:ext cx="0" cy="17780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48200" y="3416300"/>
            <a:ext cx="0" cy="17780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43800" y="3416300"/>
            <a:ext cx="0" cy="17780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426700" y="3416300"/>
            <a:ext cx="0" cy="177800"/>
          </a:xfrm>
          <a:prstGeom prst="line">
            <a:avLst/>
          </a:prstGeom>
          <a:ln w="19050">
            <a:solidFill>
              <a:srgbClr val="DCE1D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43800" y="4660900"/>
            <a:ext cx="0" cy="241300"/>
          </a:xfrm>
          <a:prstGeom prst="line">
            <a:avLst/>
          </a:prstGeom>
          <a:ln w="19050">
            <a:solidFill>
              <a:srgbClr val="6840C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48200" y="4660900"/>
            <a:ext cx="0" cy="749300"/>
          </a:xfrm>
          <a:prstGeom prst="line">
            <a:avLst/>
          </a:prstGeom>
          <a:ln w="19050">
            <a:solidFill>
              <a:srgbClr val="6840C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48200" y="5410200"/>
            <a:ext cx="1498600" cy="0"/>
          </a:xfrm>
          <a:prstGeom prst="line">
            <a:avLst/>
          </a:prstGeom>
          <a:ln w="19050">
            <a:solidFill>
              <a:srgbClr val="6840C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96000" y="2349500"/>
            <a:ext cx="2552700" cy="0"/>
          </a:xfrm>
          <a:prstGeom prst="line">
            <a:avLst/>
          </a:prstGeom>
          <a:ln w="19050">
            <a:solidFill>
              <a:srgbClr val="6840C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648200" y="1892300"/>
            <a:ext cx="2895600" cy="1066800"/>
          </a:xfrm>
          <a:prstGeom prst="roundRect">
            <a:avLst>
              <a:gd name="adj" fmla="val 12000"/>
            </a:avLst>
          </a:prstGeom>
          <a:solidFill>
            <a:srgbClr val="EDE6FC"/>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TextBox 19"/>
          <p:cNvSpPr txBox="1"/>
          <p:nvPr/>
        </p:nvSpPr>
        <p:spPr>
          <a:xfrm>
            <a:off x="4800600" y="2019300"/>
            <a:ext cx="25908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User</a:t>
            </a:r>
          </a:p>
        </p:txBody>
      </p:sp>
      <p:sp>
        <p:nvSpPr>
          <p:cNvPr id="21" name="TextBox 20"/>
          <p:cNvSpPr txBox="1"/>
          <p:nvPr/>
        </p:nvSpPr>
        <p:spPr>
          <a:xfrm>
            <a:off x="4800600" y="2413000"/>
            <a:ext cx="25908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(PK), email, name</a:t>
            </a:r>
          </a:p>
          <a:p>
            <a:pPr algn="l">
              <a:lnSpc>
                <a:spcPts val="1476"/>
              </a:lnSpc>
              <a:spcBef>
                <a:spcPts val="0"/>
              </a:spcBef>
              <a:spcAft>
                <a:spcPts val="0"/>
              </a:spcAft>
              <a:defRPr sz="1200" b="0">
                <a:solidFill>
                  <a:srgbClr val="596153"/>
                </a:solidFill>
                <a:latin typeface="Arial"/>
              </a:defRPr>
            </a:pPr>
            <a:r>
              <a:rPr>
                <a:solidFill/>
              </a:rPr>
              <a:t>passwordHash</a:t>
            </a:r>
          </a:p>
        </p:txBody>
      </p:sp>
      <p:sp>
        <p:nvSpPr>
          <p:cNvPr id="22" name="Rounded Rectangle 21"/>
          <p:cNvSpPr/>
          <p:nvPr/>
        </p:nvSpPr>
        <p:spPr>
          <a:xfrm>
            <a:off x="8648700" y="1892300"/>
            <a:ext cx="3035300" cy="10668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TextBox 22"/>
          <p:cNvSpPr txBox="1"/>
          <p:nvPr/>
        </p:nvSpPr>
        <p:spPr>
          <a:xfrm>
            <a:off x="8801100" y="2019300"/>
            <a:ext cx="27305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Session</a:t>
            </a:r>
          </a:p>
        </p:txBody>
      </p:sp>
      <p:sp>
        <p:nvSpPr>
          <p:cNvPr id="24" name="TextBox 23"/>
          <p:cNvSpPr txBox="1"/>
          <p:nvPr/>
        </p:nvSpPr>
        <p:spPr>
          <a:xfrm>
            <a:off x="8801100" y="2413000"/>
            <a:ext cx="27305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(token hash), userId (FK)</a:t>
            </a:r>
          </a:p>
          <a:p>
            <a:pPr algn="l">
              <a:lnSpc>
                <a:spcPts val="1476"/>
              </a:lnSpc>
              <a:spcBef>
                <a:spcPts val="0"/>
              </a:spcBef>
              <a:spcAft>
                <a:spcPts val="0"/>
              </a:spcAft>
              <a:defRPr sz="1200" b="0">
                <a:solidFill>
                  <a:srgbClr val="596153"/>
                </a:solidFill>
                <a:latin typeface="Arial"/>
              </a:defRPr>
            </a:pPr>
            <a:r>
              <a:rPr>
                <a:solidFill/>
              </a:rPr>
              <a:t>expiresAt</a:t>
            </a:r>
          </a:p>
        </p:txBody>
      </p:sp>
      <p:sp>
        <p:nvSpPr>
          <p:cNvPr id="25" name="Rounded Rectangle 24"/>
          <p:cNvSpPr/>
          <p:nvPr/>
        </p:nvSpPr>
        <p:spPr>
          <a:xfrm>
            <a:off x="508000" y="3594100"/>
            <a:ext cx="2514600" cy="10668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TextBox 25"/>
          <p:cNvSpPr txBox="1"/>
          <p:nvPr/>
        </p:nvSpPr>
        <p:spPr>
          <a:xfrm>
            <a:off x="660400" y="3721100"/>
            <a:ext cx="22098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Wallet</a:t>
            </a:r>
          </a:p>
        </p:txBody>
      </p:sp>
      <p:sp>
        <p:nvSpPr>
          <p:cNvPr id="27" name="TextBox 26"/>
          <p:cNvSpPr txBox="1"/>
          <p:nvPr/>
        </p:nvSpPr>
        <p:spPr>
          <a:xfrm>
            <a:off x="660400" y="4114800"/>
            <a:ext cx="22098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userId, openingBalance</a:t>
            </a:r>
          </a:p>
          <a:p>
            <a:pPr algn="l">
              <a:lnSpc>
                <a:spcPts val="1476"/>
              </a:lnSpc>
              <a:spcBef>
                <a:spcPts val="0"/>
              </a:spcBef>
              <a:spcAft>
                <a:spcPts val="0"/>
              </a:spcAft>
              <a:defRPr sz="1200" b="0">
                <a:solidFill>
                  <a:srgbClr val="596153"/>
                </a:solidFill>
                <a:latin typeface="Arial"/>
              </a:defRPr>
            </a:pPr>
            <a:r>
              <a:rPr>
                <a:solidFill/>
              </a:rPr>
              <a:t>name, kind, archived</a:t>
            </a:r>
          </a:p>
        </p:txBody>
      </p:sp>
      <p:sp>
        <p:nvSpPr>
          <p:cNvPr id="28" name="Rounded Rectangle 27"/>
          <p:cNvSpPr/>
          <p:nvPr/>
        </p:nvSpPr>
        <p:spPr>
          <a:xfrm>
            <a:off x="3390900" y="3594100"/>
            <a:ext cx="2514600" cy="10668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TextBox 28"/>
          <p:cNvSpPr txBox="1"/>
          <p:nvPr/>
        </p:nvSpPr>
        <p:spPr>
          <a:xfrm>
            <a:off x="3543300" y="3721100"/>
            <a:ext cx="22098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Category</a:t>
            </a:r>
          </a:p>
        </p:txBody>
      </p:sp>
      <p:sp>
        <p:nvSpPr>
          <p:cNvPr id="30" name="TextBox 29"/>
          <p:cNvSpPr txBox="1"/>
          <p:nvPr/>
        </p:nvSpPr>
        <p:spPr>
          <a:xfrm>
            <a:off x="3543300" y="4114800"/>
            <a:ext cx="22098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userId, name, kind</a:t>
            </a:r>
          </a:p>
          <a:p>
            <a:pPr algn="l">
              <a:lnSpc>
                <a:spcPts val="1476"/>
              </a:lnSpc>
              <a:spcBef>
                <a:spcPts val="0"/>
              </a:spcBef>
              <a:spcAft>
                <a:spcPts val="0"/>
              </a:spcAft>
              <a:defRPr sz="1200" b="0">
                <a:solidFill>
                  <a:srgbClr val="596153"/>
                </a:solidFill>
                <a:latin typeface="Arial"/>
              </a:defRPr>
            </a:pPr>
            <a:r>
              <a:rPr>
                <a:solidFill/>
              </a:rPr>
              <a:t>icon, color, archived</a:t>
            </a:r>
          </a:p>
        </p:txBody>
      </p:sp>
      <p:sp>
        <p:nvSpPr>
          <p:cNvPr id="31" name="Rounded Rectangle 30"/>
          <p:cNvSpPr/>
          <p:nvPr/>
        </p:nvSpPr>
        <p:spPr>
          <a:xfrm>
            <a:off x="6273800" y="3594100"/>
            <a:ext cx="2514600" cy="10668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6426200" y="3721100"/>
            <a:ext cx="22098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BudgetPlan</a:t>
            </a:r>
          </a:p>
        </p:txBody>
      </p:sp>
      <p:sp>
        <p:nvSpPr>
          <p:cNvPr id="33" name="TextBox 32"/>
          <p:cNvSpPr txBox="1"/>
          <p:nvPr/>
        </p:nvSpPr>
        <p:spPr>
          <a:xfrm>
            <a:off x="6426200" y="4114800"/>
            <a:ext cx="22098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userId, month, revision</a:t>
            </a:r>
          </a:p>
          <a:p>
            <a:pPr algn="l">
              <a:lnSpc>
                <a:spcPts val="1476"/>
              </a:lnSpc>
              <a:spcBef>
                <a:spcPts val="0"/>
              </a:spcBef>
              <a:spcAft>
                <a:spcPts val="0"/>
              </a:spcAft>
              <a:defRPr sz="1200" b="0">
                <a:solidFill>
                  <a:srgbClr val="596153"/>
                </a:solidFill>
                <a:latin typeface="Arial"/>
              </a:defRPr>
            </a:pPr>
            <a:r>
              <a:rPr>
                <a:solidFill/>
              </a:rPr>
              <a:t>income, savings, active</a:t>
            </a:r>
          </a:p>
        </p:txBody>
      </p:sp>
      <p:sp>
        <p:nvSpPr>
          <p:cNvPr id="34" name="Rounded Rectangle 33"/>
          <p:cNvSpPr/>
          <p:nvPr/>
        </p:nvSpPr>
        <p:spPr>
          <a:xfrm>
            <a:off x="9156700" y="3594100"/>
            <a:ext cx="2527300" cy="10668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9309100" y="3721100"/>
            <a:ext cx="22225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Transaction</a:t>
            </a:r>
          </a:p>
        </p:txBody>
      </p:sp>
      <p:sp>
        <p:nvSpPr>
          <p:cNvPr id="36" name="TextBox 35"/>
          <p:cNvSpPr txBox="1"/>
          <p:nvPr/>
        </p:nvSpPr>
        <p:spPr>
          <a:xfrm>
            <a:off x="9309100" y="4114800"/>
            <a:ext cx="22225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id, userId, walletId, amount</a:t>
            </a:r>
          </a:p>
          <a:p>
            <a:pPr algn="l">
              <a:lnSpc>
                <a:spcPts val="1476"/>
              </a:lnSpc>
              <a:spcBef>
                <a:spcPts val="0"/>
              </a:spcBef>
              <a:spcAft>
                <a:spcPts val="0"/>
              </a:spcAft>
              <a:defRPr sz="1200" b="0">
                <a:solidFill>
                  <a:srgbClr val="596153"/>
                </a:solidFill>
                <a:latin typeface="Arial"/>
              </a:defRPr>
            </a:pPr>
            <a:r>
              <a:rPr>
                <a:solidFill/>
              </a:rPr>
              <a:t>categoryId?, destinationId?</a:t>
            </a:r>
          </a:p>
        </p:txBody>
      </p:sp>
      <p:sp>
        <p:nvSpPr>
          <p:cNvPr id="37" name="Rounded Rectangle 36"/>
          <p:cNvSpPr/>
          <p:nvPr/>
        </p:nvSpPr>
        <p:spPr>
          <a:xfrm>
            <a:off x="6146800" y="4902200"/>
            <a:ext cx="2794000" cy="1066800"/>
          </a:xfrm>
          <a:prstGeom prst="roundRect">
            <a:avLst>
              <a:gd name="adj" fmla="val 12000"/>
            </a:avLst>
          </a:prstGeom>
          <a:solidFill>
            <a:srgbClr val="D6EF8B"/>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299200" y="5029200"/>
            <a:ext cx="24892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6840C6"/>
                </a:solidFill>
                <a:latin typeface="Arial"/>
              </a:defRPr>
            </a:pPr>
            <a:r>
              <a:rPr>
                <a:solidFill/>
              </a:rPr>
              <a:t>BudgetItem</a:t>
            </a:r>
          </a:p>
        </p:txBody>
      </p:sp>
      <p:sp>
        <p:nvSpPr>
          <p:cNvPr id="39" name="TextBox 38"/>
          <p:cNvSpPr txBox="1"/>
          <p:nvPr/>
        </p:nvSpPr>
        <p:spPr>
          <a:xfrm>
            <a:off x="6299200" y="5422900"/>
            <a:ext cx="2489200" cy="609600"/>
          </a:xfrm>
          <a:prstGeom prst="rect">
            <a:avLst/>
          </a:prstGeom>
          <a:noFill/>
          <a:ln>
            <a:solidFill/>
          </a:ln>
        </p:spPr>
        <p:txBody>
          <a:bodyPr wrap="none" lIns="0" rIns="0" tIns="0" bIns="0">
            <a:spAutoFit/>
          </a:bodyPr>
          <a:lstStyle/>
          <a:p>
            <a:pPr algn="l">
              <a:lnSpc>
                <a:spcPts val="1476"/>
              </a:lnSpc>
              <a:spcBef>
                <a:spcPts val="0"/>
              </a:spcBef>
              <a:spcAft>
                <a:spcPts val="0"/>
              </a:spcAft>
              <a:defRPr sz="1200" b="0">
                <a:solidFill>
                  <a:srgbClr val="596153"/>
                </a:solidFill>
                <a:latin typeface="Arial"/>
              </a:defRPr>
            </a:pPr>
            <a:r>
              <a:rPr>
                <a:solidFill/>
              </a:rPr>
              <a:t>planId, categoryId</a:t>
            </a:r>
          </a:p>
          <a:p>
            <a:pPr algn="l">
              <a:lnSpc>
                <a:spcPts val="1476"/>
              </a:lnSpc>
              <a:spcBef>
                <a:spcPts val="0"/>
              </a:spcBef>
              <a:spcAft>
                <a:spcPts val="0"/>
              </a:spcAft>
              <a:defRPr sz="1200" b="0">
                <a:solidFill>
                  <a:srgbClr val="596153"/>
                </a:solidFill>
                <a:latin typeface="Arial"/>
              </a:defRPr>
            </a:pPr>
            <a:r>
              <a:rPr>
                <a:solidFill/>
              </a:rPr>
              <a:t>fixed, weight, limit</a:t>
            </a:r>
          </a:p>
        </p:txBody>
      </p:sp>
      <p:sp>
        <p:nvSpPr>
          <p:cNvPr id="40" name="TextBox 39"/>
          <p:cNvSpPr txBox="1"/>
          <p:nvPr/>
        </p:nvSpPr>
        <p:spPr>
          <a:xfrm>
            <a:off x="7937500" y="2108200"/>
            <a:ext cx="596900" cy="254000"/>
          </a:xfrm>
          <a:prstGeom prst="rect">
            <a:avLst/>
          </a:prstGeom>
          <a:noFill/>
          <a:ln>
            <a:solidFill/>
          </a:ln>
        </p:spPr>
        <p:txBody>
          <a:bodyPr wrap="none" lIns="0" rIns="0" tIns="0" bIns="0">
            <a:spAutoFit/>
          </a:bodyPr>
          <a:lstStyle/>
          <a:p>
            <a:pPr algn="l">
              <a:lnSpc>
                <a:spcPts val="1353"/>
              </a:lnSpc>
              <a:spcBef>
                <a:spcPts val="0"/>
              </a:spcBef>
              <a:spcAft>
                <a:spcPts val="0"/>
              </a:spcAft>
              <a:defRPr sz="1100" b="1">
                <a:solidFill>
                  <a:srgbClr val="6840C6"/>
                </a:solidFill>
                <a:latin typeface="Arial"/>
              </a:defRPr>
            </a:pPr>
            <a:r>
              <a:rPr>
                <a:solidFill/>
              </a:rPr>
              <a:t>1:N</a:t>
            </a:r>
          </a:p>
        </p:txBody>
      </p:sp>
      <p:sp>
        <p:nvSpPr>
          <p:cNvPr id="41" name="TextBox 40"/>
          <p:cNvSpPr txBox="1"/>
          <p:nvPr/>
        </p:nvSpPr>
        <p:spPr>
          <a:xfrm>
            <a:off x="508000" y="3048000"/>
            <a:ext cx="11176000" cy="304800"/>
          </a:xfrm>
          <a:prstGeom prst="rect">
            <a:avLst/>
          </a:prstGeom>
          <a:noFill/>
          <a:ln>
            <a:solidFill/>
          </a:ln>
        </p:spPr>
        <p:txBody>
          <a:bodyPr wrap="none" lIns="0" rIns="0" tIns="0" bIns="0">
            <a:spAutoFit/>
          </a:bodyPr>
          <a:lstStyle/>
          <a:p>
            <a:pPr algn="ctr">
              <a:lnSpc>
                <a:spcPts val="1599"/>
              </a:lnSpc>
              <a:spcBef>
                <a:spcPts val="0"/>
              </a:spcBef>
              <a:spcAft>
                <a:spcPts val="0"/>
              </a:spcAft>
              <a:defRPr sz="1300" b="1">
                <a:solidFill>
                  <a:srgbClr val="596153"/>
                </a:solidFill>
                <a:latin typeface="Arial"/>
              </a:defRPr>
            </a:pPr>
            <a:r>
              <a:rPr>
                <a:solidFill/>
              </a:rPr>
              <a:t>User 1:N với Wallet, Category, BudgetPlan, Transaction</a:t>
            </a:r>
          </a:p>
        </p:txBody>
      </p:sp>
      <p:sp>
        <p:nvSpPr>
          <p:cNvPr id="42" name="TextBox 41"/>
          <p:cNvSpPr txBox="1"/>
          <p:nvPr/>
        </p:nvSpPr>
        <p:spPr>
          <a:xfrm>
            <a:off x="508000" y="4965700"/>
            <a:ext cx="3937000" cy="279400"/>
          </a:xfrm>
          <a:prstGeom prst="rect">
            <a:avLst/>
          </a:prstGeom>
          <a:noFill/>
          <a:ln>
            <a:solidFill/>
          </a:ln>
        </p:spPr>
        <p:txBody>
          <a:bodyPr wrap="none" lIns="0" rIns="0" tIns="0" bIns="0">
            <a:spAutoFit/>
          </a:bodyPr>
          <a:lstStyle/>
          <a:p>
            <a:pPr algn="l">
              <a:lnSpc>
                <a:spcPts val="1599"/>
              </a:lnSpc>
              <a:spcBef>
                <a:spcPts val="0"/>
              </a:spcBef>
              <a:spcAft>
                <a:spcPts val="0"/>
              </a:spcAft>
              <a:defRPr sz="1300" b="1">
                <a:solidFill>
                  <a:srgbClr val="596153"/>
                </a:solidFill>
                <a:latin typeface="Arial"/>
              </a:defRPr>
            </a:pPr>
            <a:r>
              <a:rPr>
                <a:solidFill/>
              </a:rPr>
              <a:t>Wallet / Category → Transaction</a:t>
            </a:r>
          </a:p>
        </p:txBody>
      </p:sp>
      <p:sp>
        <p:nvSpPr>
          <p:cNvPr id="43" name="TextBox 42"/>
          <p:cNvSpPr txBox="1"/>
          <p:nvPr/>
        </p:nvSpPr>
        <p:spPr>
          <a:xfrm>
            <a:off x="508000" y="5346700"/>
            <a:ext cx="3911600" cy="558800"/>
          </a:xfrm>
          <a:prstGeom prst="rect">
            <a:avLst/>
          </a:prstGeom>
          <a:noFill/>
          <a:ln>
            <a:solidFill/>
          </a:ln>
        </p:spPr>
        <p:txBody>
          <a:bodyPr wrap="none" lIns="0" rIns="0" tIns="0" bIns="0">
            <a:spAutoFit/>
          </a:bodyPr>
          <a:lstStyle/>
          <a:p>
            <a:pPr algn="l">
              <a:lnSpc>
                <a:spcPts val="1599"/>
              </a:lnSpc>
              <a:spcBef>
                <a:spcPts val="0"/>
              </a:spcBef>
              <a:spcAft>
                <a:spcPts val="0"/>
              </a:spcAft>
              <a:defRPr sz="1300" b="0">
                <a:solidFill>
                  <a:srgbClr val="596153"/>
                </a:solidFill>
                <a:latin typeface="Arial"/>
              </a:defRPr>
            </a:pPr>
            <a:r>
              <a:rPr>
                <a:solidFill/>
              </a:rPr>
              <a:t>Ví chính; ví đích khi chuyển tiền.</a:t>
            </a:r>
          </a:p>
          <a:p>
            <a:pPr algn="l">
              <a:lnSpc>
                <a:spcPts val="1599"/>
              </a:lnSpc>
              <a:spcBef>
                <a:spcPts val="0"/>
              </a:spcBef>
              <a:spcAft>
                <a:spcPts val="0"/>
              </a:spcAft>
              <a:defRPr sz="1300" b="0">
                <a:solidFill>
                  <a:srgbClr val="596153"/>
                </a:solidFill>
                <a:latin typeface="Arial"/>
              </a:defRPr>
            </a:pPr>
            <a:r>
              <a:rPr>
                <a:solidFill/>
              </a:rPr>
              <a:t>Danh mục cho giao dịch thu / chi.</a:t>
            </a:r>
          </a:p>
        </p:txBody>
      </p:sp>
      <p:sp>
        <p:nvSpPr>
          <p:cNvPr id="44" name="TextBox 43"/>
          <p:cNvSpPr txBox="1"/>
          <p:nvPr/>
        </p:nvSpPr>
        <p:spPr>
          <a:xfrm>
            <a:off x="508000" y="6057900"/>
            <a:ext cx="11176000" cy="254000"/>
          </a:xfrm>
          <a:prstGeom prst="rect">
            <a:avLst/>
          </a:prstGeom>
          <a:noFill/>
          <a:ln>
            <a:solidFill/>
          </a:ln>
        </p:spPr>
        <p:txBody>
          <a:bodyPr wrap="none" lIns="0" rIns="0" tIns="0" bIns="0">
            <a:spAutoFit/>
          </a:bodyPr>
          <a:lstStyle/>
          <a:p>
            <a:pPr algn="l">
              <a:lnSpc>
                <a:spcPts val="1476"/>
              </a:lnSpc>
              <a:spcBef>
                <a:spcPts val="0"/>
              </a:spcBef>
              <a:spcAft>
                <a:spcPts val="0"/>
              </a:spcAft>
              <a:defRPr sz="1200" b="1">
                <a:solidFill>
                  <a:srgbClr val="222820"/>
                </a:solidFill>
                <a:latin typeface="Arial"/>
              </a:defRPr>
            </a:pPr>
            <a:r>
              <a:rPr>
                <a:solidFill/>
              </a:rPr>
              <a:t>Tiền: BIGINT • Ngày giao dịch: TIMESTAMPTZ • Kế hoạch: 1 phiên bản áp dụng / người / tháng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Quy tắc tài chính quyết định tính đúng của hệ thống</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Phân biệt số dư, dòng tiền thực tế và kế hoạch ngân sách</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07 / 15</a:t>
            </a:r>
          </a:p>
        </p:txBody>
      </p:sp>
      <p:sp>
        <p:nvSpPr>
          <p:cNvPr id="9" name="Rounded Rectangle 8"/>
          <p:cNvSpPr/>
          <p:nvPr/>
        </p:nvSpPr>
        <p:spPr>
          <a:xfrm>
            <a:off x="508000" y="2070100"/>
            <a:ext cx="3505200" cy="32258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7620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8763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01</a:t>
            </a:r>
          </a:p>
        </p:txBody>
      </p:sp>
      <p:sp>
        <p:nvSpPr>
          <p:cNvPr id="12" name="TextBox 11"/>
          <p:cNvSpPr txBox="1"/>
          <p:nvPr/>
        </p:nvSpPr>
        <p:spPr>
          <a:xfrm>
            <a:off x="7620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Số dư từ sổ giao dịch</a:t>
            </a:r>
          </a:p>
        </p:txBody>
      </p:sp>
      <p:sp>
        <p:nvSpPr>
          <p:cNvPr id="13" name="TextBox 12"/>
          <p:cNvSpPr txBox="1"/>
          <p:nvPr/>
        </p:nvSpPr>
        <p:spPr>
          <a:xfrm>
            <a:off x="762000" y="37211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Số dư đầu + thu − chi</a:t>
            </a:r>
          </a:p>
          <a:p>
            <a:pPr algn="l">
              <a:lnSpc>
                <a:spcPts val="1968"/>
              </a:lnSpc>
              <a:spcBef>
                <a:spcPts val="0"/>
              </a:spcBef>
              <a:spcAft>
                <a:spcPts val="0"/>
              </a:spcAft>
              <a:defRPr sz="1600" b="0">
                <a:solidFill>
                  <a:srgbClr val="596153"/>
                </a:solidFill>
                <a:latin typeface="Arial"/>
              </a:defRPr>
            </a:pPr>
            <a:r>
              <a:rPr>
                <a:solidFill/>
              </a:rPr>
              <a:t>+ chuyển vào − chuyển ra.</a:t>
            </a:r>
          </a:p>
          <a:p>
            <a:pPr algn="l">
              <a:lnSpc>
                <a:spcPts val="1968"/>
              </a:lnSpc>
              <a:spcBef>
                <a:spcPts val="0"/>
              </a:spcBef>
              <a:spcAft>
                <a:spcPts val="0"/>
              </a:spcAft>
              <a:defRPr sz="1600" b="0">
                <a:solidFill>
                  <a:srgbClr val="596153"/>
                </a:solidFill>
                <a:latin typeface="Arial"/>
              </a:defRPr>
            </a:pPr>
            <a:r>
              <a:rPr>
                <a:solidFill/>
              </a:rPr>
              <a:t>Không lưu bản số dư thứ hai.</a:t>
            </a:r>
          </a:p>
        </p:txBody>
      </p:sp>
      <p:sp>
        <p:nvSpPr>
          <p:cNvPr id="14" name="Rounded Rectangle 13"/>
          <p:cNvSpPr/>
          <p:nvPr/>
        </p:nvSpPr>
        <p:spPr>
          <a:xfrm>
            <a:off x="4343400" y="2070100"/>
            <a:ext cx="3505200" cy="32258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Rounded Rectangle 14"/>
          <p:cNvSpPr/>
          <p:nvPr/>
        </p:nvSpPr>
        <p:spPr>
          <a:xfrm>
            <a:off x="45974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47117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02</a:t>
            </a:r>
          </a:p>
        </p:txBody>
      </p:sp>
      <p:sp>
        <p:nvSpPr>
          <p:cNvPr id="17" name="TextBox 16"/>
          <p:cNvSpPr txBox="1"/>
          <p:nvPr/>
        </p:nvSpPr>
        <p:spPr>
          <a:xfrm>
            <a:off x="45974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Chuyển ví là nội bộ</a:t>
            </a:r>
          </a:p>
        </p:txBody>
      </p:sp>
      <p:sp>
        <p:nvSpPr>
          <p:cNvPr id="18" name="TextBox 17"/>
          <p:cNvSpPr txBox="1"/>
          <p:nvPr/>
        </p:nvSpPr>
        <p:spPr>
          <a:xfrm>
            <a:off x="4597400" y="37211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Chuyển 500.000 ₫ giữa hai ví</a:t>
            </a:r>
          </a:p>
          <a:p>
            <a:pPr algn="l">
              <a:lnSpc>
                <a:spcPts val="1968"/>
              </a:lnSpc>
              <a:spcBef>
                <a:spcPts val="0"/>
              </a:spcBef>
              <a:spcAft>
                <a:spcPts val="0"/>
              </a:spcAft>
              <a:defRPr sz="1600" b="0">
                <a:solidFill>
                  <a:srgbClr val="596153"/>
                </a:solidFill>
                <a:latin typeface="Arial"/>
              </a:defRPr>
            </a:pPr>
            <a:r>
              <a:rPr>
                <a:solidFill/>
              </a:rPr>
              <a:t>làm đổi số dư từng ví, nhưng</a:t>
            </a:r>
          </a:p>
          <a:p>
            <a:pPr algn="l">
              <a:lnSpc>
                <a:spcPts val="1968"/>
              </a:lnSpc>
              <a:spcBef>
                <a:spcPts val="0"/>
              </a:spcBef>
              <a:spcAft>
                <a:spcPts val="0"/>
              </a:spcAft>
              <a:defRPr sz="1600" b="0">
                <a:solidFill>
                  <a:srgbClr val="596153"/>
                </a:solidFill>
                <a:latin typeface="Arial"/>
              </a:defRPr>
            </a:pPr>
            <a:r>
              <a:rPr>
                <a:solidFill/>
              </a:rPr>
              <a:t>không tạo thu nhập hay chi tiêu.</a:t>
            </a:r>
          </a:p>
        </p:txBody>
      </p:sp>
      <p:sp>
        <p:nvSpPr>
          <p:cNvPr id="19" name="Rounded Rectangle 18"/>
          <p:cNvSpPr/>
          <p:nvPr/>
        </p:nvSpPr>
        <p:spPr>
          <a:xfrm>
            <a:off x="8178800" y="2070100"/>
            <a:ext cx="3505200" cy="32258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ounded Rectangle 19"/>
          <p:cNvSpPr/>
          <p:nvPr/>
        </p:nvSpPr>
        <p:spPr>
          <a:xfrm>
            <a:off x="8432800" y="23241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547100" y="23876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03</a:t>
            </a:r>
          </a:p>
        </p:txBody>
      </p:sp>
      <p:sp>
        <p:nvSpPr>
          <p:cNvPr id="22" name="TextBox 21"/>
          <p:cNvSpPr txBox="1"/>
          <p:nvPr/>
        </p:nvSpPr>
        <p:spPr>
          <a:xfrm>
            <a:off x="8432800" y="28956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Kế hoạch ≠ thực tế</a:t>
            </a:r>
          </a:p>
        </p:txBody>
      </p:sp>
      <p:sp>
        <p:nvSpPr>
          <p:cNvPr id="23" name="TextBox 22"/>
          <p:cNvSpPr txBox="1"/>
          <p:nvPr/>
        </p:nvSpPr>
        <p:spPr>
          <a:xfrm>
            <a:off x="8432800" y="37211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Thu nhập và tiết kiệm dự kiến chỉ</a:t>
            </a:r>
          </a:p>
          <a:p>
            <a:pPr algn="l">
              <a:lnSpc>
                <a:spcPts val="1968"/>
              </a:lnSpc>
              <a:spcBef>
                <a:spcPts val="0"/>
              </a:spcBef>
              <a:spcAft>
                <a:spcPts val="0"/>
              </a:spcAft>
              <a:defRPr sz="1600" b="0">
                <a:solidFill>
                  <a:srgbClr val="596153"/>
                </a:solidFill>
                <a:latin typeface="Arial"/>
              </a:defRPr>
            </a:pPr>
            <a:r>
              <a:rPr>
                <a:solidFill/>
              </a:rPr>
              <a:t>phục vụ lập ngân sách. Giao</a:t>
            </a:r>
          </a:p>
          <a:p>
            <a:pPr algn="l">
              <a:lnSpc>
                <a:spcPts val="1968"/>
              </a:lnSpc>
              <a:spcBef>
                <a:spcPts val="0"/>
              </a:spcBef>
              <a:spcAft>
                <a:spcPts val="0"/>
              </a:spcAft>
              <a:defRPr sz="1600" b="0">
                <a:solidFill>
                  <a:srgbClr val="596153"/>
                </a:solidFill>
                <a:latin typeface="Arial"/>
              </a:defRPr>
            </a:pPr>
            <a:r>
              <a:rPr>
                <a:solidFill/>
              </a:rPr>
              <a:t>dịch phản ánh số tiền thực.</a:t>
            </a:r>
          </a:p>
        </p:txBody>
      </p:sp>
      <p:sp>
        <p:nvSpPr>
          <p:cNvPr id="24" name="Rounded Rectangle 23"/>
          <p:cNvSpPr/>
          <p:nvPr/>
        </p:nvSpPr>
        <p:spPr>
          <a:xfrm>
            <a:off x="508000" y="5549900"/>
            <a:ext cx="11176000" cy="6350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736600" y="5740400"/>
            <a:ext cx="107188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345D3E"/>
                </a:solidFill>
                <a:latin typeface="Arial"/>
              </a:defRPr>
            </a:pPr>
            <a:r>
              <a:rPr>
                <a:solidFill/>
              </a:rPr>
              <a:t>Chi vượt ngân sách vẫn được ghi nhận; hệ thống cảnh báo thay vì làm sai sổ giao dịch.</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Ngân sách tự động, người dùng giữ quyền quyết định</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Luồng từ nhập dữ liệu đến áp dụng kế hoạch tháng</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08 / 15</a:t>
            </a:r>
          </a:p>
        </p:txBody>
      </p:sp>
      <p:sp>
        <p:nvSpPr>
          <p:cNvPr id="9" name="Rounded Rectangle 8"/>
          <p:cNvSpPr/>
          <p:nvPr/>
        </p:nvSpPr>
        <p:spPr>
          <a:xfrm>
            <a:off x="508000" y="2501900"/>
            <a:ext cx="2565400" cy="25527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736600" y="2743200"/>
            <a:ext cx="5461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850900" y="2806700"/>
            <a:ext cx="317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01</a:t>
            </a:r>
          </a:p>
        </p:txBody>
      </p:sp>
      <p:sp>
        <p:nvSpPr>
          <p:cNvPr id="12" name="TextBox 11"/>
          <p:cNvSpPr txBox="1"/>
          <p:nvPr/>
        </p:nvSpPr>
        <p:spPr>
          <a:xfrm>
            <a:off x="736600" y="3378200"/>
            <a:ext cx="2159000" cy="6350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222820"/>
                </a:solidFill>
                <a:latin typeface="Arial"/>
              </a:defRPr>
            </a:pPr>
            <a:r>
              <a:rPr>
                <a:solidFill/>
              </a:rPr>
              <a:t>Nhập dữ liệu</a:t>
            </a:r>
          </a:p>
        </p:txBody>
      </p:sp>
      <p:sp>
        <p:nvSpPr>
          <p:cNvPr id="13" name="TextBox 12"/>
          <p:cNvSpPr txBox="1"/>
          <p:nvPr/>
        </p:nvSpPr>
        <p:spPr>
          <a:xfrm>
            <a:off x="736600" y="4140200"/>
            <a:ext cx="2146300" cy="7620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Thu nhập, tiết kiệm,</a:t>
            </a:r>
          </a:p>
          <a:p>
            <a:pPr algn="l">
              <a:lnSpc>
                <a:spcPts val="1845"/>
              </a:lnSpc>
              <a:spcBef>
                <a:spcPts val="0"/>
              </a:spcBef>
              <a:spcAft>
                <a:spcPts val="0"/>
              </a:spcAft>
              <a:defRPr sz="1500" b="0">
                <a:solidFill>
                  <a:srgbClr val="596153"/>
                </a:solidFill>
                <a:latin typeface="Arial"/>
              </a:defRPr>
            </a:pPr>
            <a:r>
              <a:rPr>
                <a:solidFill/>
              </a:rPr>
              <a:t>chi bắt buộc, trọng số</a:t>
            </a:r>
          </a:p>
        </p:txBody>
      </p:sp>
      <p:cxnSp>
        <p:nvCxnSpPr>
          <p:cNvPr id="14" name="Connector 13"/>
          <p:cNvCxnSpPr/>
          <p:nvPr/>
        </p:nvCxnSpPr>
        <p:spPr>
          <a:xfrm>
            <a:off x="3111500" y="3708400"/>
            <a:ext cx="203200" cy="0"/>
          </a:xfrm>
          <a:prstGeom prst="line">
            <a:avLst/>
          </a:prstGeom>
          <a:ln w="25400">
            <a:solidFill>
              <a:srgbClr val="6840C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78200" y="2501900"/>
            <a:ext cx="2565400" cy="25527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Rounded Rectangle 15"/>
          <p:cNvSpPr/>
          <p:nvPr/>
        </p:nvSpPr>
        <p:spPr>
          <a:xfrm>
            <a:off x="3606800" y="2743200"/>
            <a:ext cx="5461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TextBox 16"/>
          <p:cNvSpPr txBox="1"/>
          <p:nvPr/>
        </p:nvSpPr>
        <p:spPr>
          <a:xfrm>
            <a:off x="3721100" y="2806700"/>
            <a:ext cx="317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02</a:t>
            </a:r>
          </a:p>
        </p:txBody>
      </p:sp>
      <p:sp>
        <p:nvSpPr>
          <p:cNvPr id="18" name="TextBox 17"/>
          <p:cNvSpPr txBox="1"/>
          <p:nvPr/>
        </p:nvSpPr>
        <p:spPr>
          <a:xfrm>
            <a:off x="3606800" y="3378200"/>
            <a:ext cx="2159000" cy="6350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222820"/>
                </a:solidFill>
                <a:latin typeface="Arial"/>
              </a:defRPr>
            </a:pPr>
            <a:r>
              <a:rPr>
                <a:solidFill/>
              </a:rPr>
              <a:t>Kiểm tra &amp; tính</a:t>
            </a:r>
          </a:p>
        </p:txBody>
      </p:sp>
      <p:sp>
        <p:nvSpPr>
          <p:cNvPr id="19" name="TextBox 18"/>
          <p:cNvSpPr txBox="1"/>
          <p:nvPr/>
        </p:nvSpPr>
        <p:spPr>
          <a:xfrm>
            <a:off x="3606800" y="4140200"/>
            <a:ext cx="2146300" cy="7620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Xác minh danh mục;</a:t>
            </a:r>
          </a:p>
          <a:p>
            <a:pPr algn="l">
              <a:lnSpc>
                <a:spcPts val="1845"/>
              </a:lnSpc>
              <a:spcBef>
                <a:spcPts val="0"/>
              </a:spcBef>
              <a:spcAft>
                <a:spcPts val="0"/>
              </a:spcAft>
              <a:defRPr sz="1500" b="0">
                <a:solidFill>
                  <a:srgbClr val="596153"/>
                </a:solidFill>
                <a:latin typeface="Arial"/>
              </a:defRPr>
            </a:pPr>
            <a:r>
              <a:rPr>
                <a:solidFill/>
              </a:rPr>
              <a:t>kiểm tra đủ nguồn tiền</a:t>
            </a:r>
          </a:p>
        </p:txBody>
      </p:sp>
      <p:cxnSp>
        <p:nvCxnSpPr>
          <p:cNvPr id="20" name="Connector 19"/>
          <p:cNvCxnSpPr/>
          <p:nvPr/>
        </p:nvCxnSpPr>
        <p:spPr>
          <a:xfrm>
            <a:off x="5981700" y="3708400"/>
            <a:ext cx="203200" cy="0"/>
          </a:xfrm>
          <a:prstGeom prst="line">
            <a:avLst/>
          </a:prstGeom>
          <a:ln w="25400">
            <a:solidFill>
              <a:srgbClr val="6840C6"/>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48400" y="2501900"/>
            <a:ext cx="2565400" cy="25527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Rounded Rectangle 21"/>
          <p:cNvSpPr/>
          <p:nvPr/>
        </p:nvSpPr>
        <p:spPr>
          <a:xfrm>
            <a:off x="6477000" y="2743200"/>
            <a:ext cx="5461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TextBox 22"/>
          <p:cNvSpPr txBox="1"/>
          <p:nvPr/>
        </p:nvSpPr>
        <p:spPr>
          <a:xfrm>
            <a:off x="6591300" y="2806700"/>
            <a:ext cx="317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03</a:t>
            </a:r>
          </a:p>
        </p:txBody>
      </p:sp>
      <p:sp>
        <p:nvSpPr>
          <p:cNvPr id="24" name="TextBox 23"/>
          <p:cNvSpPr txBox="1"/>
          <p:nvPr/>
        </p:nvSpPr>
        <p:spPr>
          <a:xfrm>
            <a:off x="6477000" y="3378200"/>
            <a:ext cx="2159000" cy="6350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222820"/>
                </a:solidFill>
                <a:latin typeface="Arial"/>
              </a:defRPr>
            </a:pPr>
            <a:r>
              <a:rPr>
                <a:solidFill/>
              </a:rPr>
              <a:t>Xem trước</a:t>
            </a:r>
          </a:p>
        </p:txBody>
      </p:sp>
      <p:sp>
        <p:nvSpPr>
          <p:cNvPr id="25" name="TextBox 24"/>
          <p:cNvSpPr txBox="1"/>
          <p:nvPr/>
        </p:nvSpPr>
        <p:spPr>
          <a:xfrm>
            <a:off x="6477000" y="4140200"/>
            <a:ext cx="2146300" cy="7620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Hiển thị hạn mức;</a:t>
            </a:r>
          </a:p>
          <a:p>
            <a:pPr algn="l">
              <a:lnSpc>
                <a:spcPts val="1845"/>
              </a:lnSpc>
              <a:spcBef>
                <a:spcPts val="0"/>
              </a:spcBef>
              <a:spcAft>
                <a:spcPts val="0"/>
              </a:spcAft>
              <a:defRPr sz="1500" b="0">
                <a:solidFill>
                  <a:srgbClr val="596153"/>
                </a:solidFill>
                <a:latin typeface="Arial"/>
              </a:defRPr>
            </a:pPr>
            <a:r>
              <a:rPr>
                <a:solidFill/>
              </a:rPr>
              <a:t>chưa ghi database</a:t>
            </a:r>
          </a:p>
        </p:txBody>
      </p:sp>
      <p:cxnSp>
        <p:nvCxnSpPr>
          <p:cNvPr id="26" name="Connector 25"/>
          <p:cNvCxnSpPr/>
          <p:nvPr/>
        </p:nvCxnSpPr>
        <p:spPr>
          <a:xfrm>
            <a:off x="8851900" y="3708400"/>
            <a:ext cx="203200" cy="0"/>
          </a:xfrm>
          <a:prstGeom prst="line">
            <a:avLst/>
          </a:prstGeom>
          <a:ln w="25400">
            <a:solidFill>
              <a:srgbClr val="6840C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118600" y="2501900"/>
            <a:ext cx="2565400" cy="25527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Rounded Rectangle 27"/>
          <p:cNvSpPr/>
          <p:nvPr/>
        </p:nvSpPr>
        <p:spPr>
          <a:xfrm>
            <a:off x="9347200" y="2743200"/>
            <a:ext cx="5461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TextBox 28"/>
          <p:cNvSpPr txBox="1"/>
          <p:nvPr/>
        </p:nvSpPr>
        <p:spPr>
          <a:xfrm>
            <a:off x="9461500" y="2806700"/>
            <a:ext cx="3175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04</a:t>
            </a:r>
          </a:p>
        </p:txBody>
      </p:sp>
      <p:sp>
        <p:nvSpPr>
          <p:cNvPr id="30" name="TextBox 29"/>
          <p:cNvSpPr txBox="1"/>
          <p:nvPr/>
        </p:nvSpPr>
        <p:spPr>
          <a:xfrm>
            <a:off x="9347200" y="3378200"/>
            <a:ext cx="2159000" cy="6350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222820"/>
                </a:solidFill>
                <a:latin typeface="Arial"/>
              </a:defRPr>
            </a:pPr>
            <a:r>
              <a:rPr>
                <a:solidFill/>
              </a:rPr>
              <a:t>Xác nhận áp dụng</a:t>
            </a:r>
          </a:p>
        </p:txBody>
      </p:sp>
      <p:sp>
        <p:nvSpPr>
          <p:cNvPr id="31" name="TextBox 30"/>
          <p:cNvSpPr txBox="1"/>
          <p:nvPr/>
        </p:nvSpPr>
        <p:spPr>
          <a:xfrm>
            <a:off x="9347200" y="4140200"/>
            <a:ext cx="2146300" cy="7620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Backend tính lại;</a:t>
            </a:r>
          </a:p>
          <a:p>
            <a:pPr algn="l">
              <a:lnSpc>
                <a:spcPts val="1845"/>
              </a:lnSpc>
              <a:spcBef>
                <a:spcPts val="0"/>
              </a:spcBef>
              <a:spcAft>
                <a:spcPts val="0"/>
              </a:spcAft>
              <a:defRPr sz="1500" b="0">
                <a:solidFill>
                  <a:srgbClr val="596153"/>
                </a:solidFill>
                <a:latin typeface="Arial"/>
              </a:defRPr>
            </a:pPr>
            <a:r>
              <a:rPr>
                <a:solidFill/>
              </a:rPr>
              <a:t>lưu phiên bản mới</a:t>
            </a:r>
          </a:p>
        </p:txBody>
      </p:sp>
      <p:sp>
        <p:nvSpPr>
          <p:cNvPr id="32" name="Rounded Rectangle 31"/>
          <p:cNvSpPr/>
          <p:nvPr/>
        </p:nvSpPr>
        <p:spPr>
          <a:xfrm>
            <a:off x="508000" y="5397500"/>
            <a:ext cx="11176000" cy="7874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736600" y="5537200"/>
            <a:ext cx="4318000" cy="3175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345D3E"/>
                </a:solidFill>
                <a:latin typeface="Arial"/>
              </a:defRPr>
            </a:pPr>
            <a:r>
              <a:rPr>
                <a:solidFill/>
              </a:rPr>
              <a:t>Áp dụng nguyên tử trong database</a:t>
            </a:r>
          </a:p>
        </p:txBody>
      </p:sp>
      <p:sp>
        <p:nvSpPr>
          <p:cNvPr id="34" name="TextBox 33"/>
          <p:cNvSpPr txBox="1"/>
          <p:nvPr/>
        </p:nvSpPr>
        <p:spPr>
          <a:xfrm>
            <a:off x="5308600" y="5537200"/>
            <a:ext cx="6121400" cy="5461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345D3E"/>
                </a:solidFill>
                <a:latin typeface="Arial"/>
              </a:defRPr>
            </a:pPr>
            <a:r>
              <a:rPr>
                <a:solidFill/>
              </a:rPr>
              <a:t>Khóa theo người dùng / tháng; giữ phiên bản cũ.</a:t>
            </a:r>
          </a:p>
          <a:p>
            <a:pPr algn="l">
              <a:lnSpc>
                <a:spcPts val="1722"/>
              </a:lnSpc>
              <a:spcBef>
                <a:spcPts val="0"/>
              </a:spcBef>
              <a:spcAft>
                <a:spcPts val="0"/>
              </a:spcAft>
              <a:defRPr sz="1400" b="0">
                <a:solidFill>
                  <a:srgbClr val="345D3E"/>
                </a:solidFill>
                <a:latin typeface="Arial"/>
              </a:defRPr>
            </a:pPr>
            <a:r>
              <a:rPr>
                <a:solidFill/>
              </a:rPr>
              <a:t>Chi tiêu mới không tự đổi hạn mức đã xác nhận.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Một ví dụ phân bổ ngân sách tự động</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Số liệu minh họa • đơn vị: triệu đồng</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09 / 15</a:t>
            </a:r>
          </a:p>
        </p:txBody>
      </p:sp>
      <p:sp>
        <p:nvSpPr>
          <p:cNvPr id="9" name="Rounded Rectangle 8"/>
          <p:cNvSpPr/>
          <p:nvPr/>
        </p:nvSpPr>
        <p:spPr>
          <a:xfrm>
            <a:off x="508000" y="1993900"/>
            <a:ext cx="11176000" cy="838200"/>
          </a:xfrm>
          <a:prstGeom prst="roundRect">
            <a:avLst>
              <a:gd name="adj" fmla="val 12000"/>
            </a:avLst>
          </a:prstGeom>
          <a:solidFill>
            <a:srgbClr val="22282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762000" y="2247900"/>
            <a:ext cx="10668000" cy="444500"/>
          </a:xfrm>
          <a:prstGeom prst="rect">
            <a:avLst/>
          </a:prstGeom>
          <a:noFill/>
          <a:ln>
            <a:solidFill/>
          </a:ln>
        </p:spPr>
        <p:txBody>
          <a:bodyPr wrap="none" lIns="0" rIns="0" tIns="0" bIns="0">
            <a:spAutoFit/>
          </a:bodyPr>
          <a:lstStyle/>
          <a:p>
            <a:pPr algn="ctr">
              <a:lnSpc>
                <a:spcPts val="2829"/>
              </a:lnSpc>
              <a:spcBef>
                <a:spcPts val="0"/>
              </a:spcBef>
              <a:spcAft>
                <a:spcPts val="0"/>
              </a:spcAft>
              <a:defRPr sz="2300" b="1">
                <a:solidFill>
                  <a:srgbClr val="FFFFFF"/>
                </a:solidFill>
                <a:latin typeface="Arial"/>
              </a:defRPr>
            </a:pPr>
            <a:r>
              <a:rPr>
                <a:solidFill/>
              </a:rPr>
              <a:t>10 thu nhập − 4 chi bắt buộc − 2 tiết kiệm = 4 linh hoạt</a:t>
            </a:r>
          </a:p>
        </p:txBody>
      </p:sp>
      <p:sp>
        <p:nvSpPr>
          <p:cNvPr id="11" name="TextBox 10"/>
          <p:cNvSpPr txBox="1"/>
          <p:nvPr/>
        </p:nvSpPr>
        <p:spPr>
          <a:xfrm>
            <a:off x="762000" y="3111500"/>
            <a:ext cx="3327400" cy="342900"/>
          </a:xfrm>
          <a:prstGeom prst="rect">
            <a:avLst/>
          </a:prstGeom>
          <a:noFill/>
          <a:ln>
            <a:solidFill/>
          </a:ln>
        </p:spPr>
        <p:txBody>
          <a:bodyPr wrap="none" lIns="0" rIns="0" tIns="0" bIns="0">
            <a:spAutoFit/>
          </a:bodyPr>
          <a:lstStyle/>
          <a:p>
            <a:pPr algn="l">
              <a:lnSpc>
                <a:spcPts val="1845"/>
              </a:lnSpc>
              <a:spcBef>
                <a:spcPts val="0"/>
              </a:spcBef>
              <a:spcAft>
                <a:spcPts val="0"/>
              </a:spcAft>
              <a:defRPr sz="1500" b="1">
                <a:solidFill>
                  <a:srgbClr val="596153"/>
                </a:solidFill>
                <a:latin typeface="Arial"/>
              </a:defRPr>
            </a:pPr>
            <a:r>
              <a:rPr>
                <a:solidFill/>
              </a:rPr>
              <a:t>Danh mục</a:t>
            </a:r>
          </a:p>
        </p:txBody>
      </p:sp>
      <p:sp>
        <p:nvSpPr>
          <p:cNvPr id="12" name="TextBox 11"/>
          <p:cNvSpPr txBox="1"/>
          <p:nvPr/>
        </p:nvSpPr>
        <p:spPr>
          <a:xfrm>
            <a:off x="4241800" y="3111500"/>
            <a:ext cx="1651000" cy="342900"/>
          </a:xfrm>
          <a:prstGeom prst="rect">
            <a:avLst/>
          </a:prstGeom>
          <a:noFill/>
          <a:ln>
            <a:solidFill/>
          </a:ln>
        </p:spPr>
        <p:txBody>
          <a:bodyPr wrap="none" lIns="0" rIns="0" tIns="0" bIns="0">
            <a:spAutoFit/>
          </a:bodyPr>
          <a:lstStyle/>
          <a:p>
            <a:pPr algn="l">
              <a:lnSpc>
                <a:spcPts val="1845"/>
              </a:lnSpc>
              <a:spcBef>
                <a:spcPts val="0"/>
              </a:spcBef>
              <a:spcAft>
                <a:spcPts val="0"/>
              </a:spcAft>
              <a:defRPr sz="1500" b="1">
                <a:solidFill>
                  <a:srgbClr val="596153"/>
                </a:solidFill>
                <a:latin typeface="Arial"/>
              </a:defRPr>
            </a:pPr>
            <a:r>
              <a:rPr>
                <a:solidFill/>
              </a:rPr>
              <a:t>Bắt buộc</a:t>
            </a:r>
          </a:p>
        </p:txBody>
      </p:sp>
      <p:sp>
        <p:nvSpPr>
          <p:cNvPr id="13" name="TextBox 12"/>
          <p:cNvSpPr txBox="1"/>
          <p:nvPr/>
        </p:nvSpPr>
        <p:spPr>
          <a:xfrm>
            <a:off x="6032500" y="3111500"/>
            <a:ext cx="1651000" cy="342900"/>
          </a:xfrm>
          <a:prstGeom prst="rect">
            <a:avLst/>
          </a:prstGeom>
          <a:noFill/>
          <a:ln>
            <a:solidFill/>
          </a:ln>
        </p:spPr>
        <p:txBody>
          <a:bodyPr wrap="none" lIns="0" rIns="0" tIns="0" bIns="0">
            <a:spAutoFit/>
          </a:bodyPr>
          <a:lstStyle/>
          <a:p>
            <a:pPr algn="l">
              <a:lnSpc>
                <a:spcPts val="1845"/>
              </a:lnSpc>
              <a:spcBef>
                <a:spcPts val="0"/>
              </a:spcBef>
              <a:spcAft>
                <a:spcPts val="0"/>
              </a:spcAft>
              <a:defRPr sz="1500" b="1">
                <a:solidFill>
                  <a:srgbClr val="596153"/>
                </a:solidFill>
                <a:latin typeface="Arial"/>
              </a:defRPr>
            </a:pPr>
            <a:r>
              <a:rPr>
                <a:solidFill/>
              </a:rPr>
              <a:t>Trọng số</a:t>
            </a:r>
          </a:p>
        </p:txBody>
      </p:sp>
      <p:sp>
        <p:nvSpPr>
          <p:cNvPr id="14" name="TextBox 13"/>
          <p:cNvSpPr txBox="1"/>
          <p:nvPr/>
        </p:nvSpPr>
        <p:spPr>
          <a:xfrm>
            <a:off x="7861300" y="3111500"/>
            <a:ext cx="1778000" cy="342900"/>
          </a:xfrm>
          <a:prstGeom prst="rect">
            <a:avLst/>
          </a:prstGeom>
          <a:noFill/>
          <a:ln>
            <a:solidFill/>
          </a:ln>
        </p:spPr>
        <p:txBody>
          <a:bodyPr wrap="none" lIns="0" rIns="0" tIns="0" bIns="0">
            <a:spAutoFit/>
          </a:bodyPr>
          <a:lstStyle/>
          <a:p>
            <a:pPr algn="l">
              <a:lnSpc>
                <a:spcPts val="1845"/>
              </a:lnSpc>
              <a:spcBef>
                <a:spcPts val="0"/>
              </a:spcBef>
              <a:spcAft>
                <a:spcPts val="0"/>
              </a:spcAft>
              <a:defRPr sz="1500" b="1">
                <a:solidFill>
                  <a:srgbClr val="596153"/>
                </a:solidFill>
                <a:latin typeface="Arial"/>
              </a:defRPr>
            </a:pPr>
            <a:r>
              <a:rPr>
                <a:solidFill/>
              </a:rPr>
              <a:t>Linh hoạt</a:t>
            </a:r>
          </a:p>
        </p:txBody>
      </p:sp>
      <p:sp>
        <p:nvSpPr>
          <p:cNvPr id="15" name="TextBox 14"/>
          <p:cNvSpPr txBox="1"/>
          <p:nvPr/>
        </p:nvSpPr>
        <p:spPr>
          <a:xfrm>
            <a:off x="9817100" y="3111500"/>
            <a:ext cx="1524000" cy="342900"/>
          </a:xfrm>
          <a:prstGeom prst="rect">
            <a:avLst/>
          </a:prstGeom>
          <a:noFill/>
          <a:ln>
            <a:solidFill/>
          </a:ln>
        </p:spPr>
        <p:txBody>
          <a:bodyPr wrap="none" lIns="0" rIns="0" tIns="0" bIns="0">
            <a:spAutoFit/>
          </a:bodyPr>
          <a:lstStyle/>
          <a:p>
            <a:pPr algn="l">
              <a:lnSpc>
                <a:spcPts val="1845"/>
              </a:lnSpc>
              <a:spcBef>
                <a:spcPts val="0"/>
              </a:spcBef>
              <a:spcAft>
                <a:spcPts val="0"/>
              </a:spcAft>
              <a:defRPr sz="1500" b="1">
                <a:solidFill>
                  <a:srgbClr val="596153"/>
                </a:solidFill>
                <a:latin typeface="Arial"/>
              </a:defRPr>
            </a:pPr>
            <a:r>
              <a:rPr>
                <a:solidFill/>
              </a:rPr>
              <a:t>Hạn mức</a:t>
            </a:r>
          </a:p>
        </p:txBody>
      </p:sp>
      <p:sp>
        <p:nvSpPr>
          <p:cNvPr id="16" name="Rounded Rectangle 15"/>
          <p:cNvSpPr/>
          <p:nvPr/>
        </p:nvSpPr>
        <p:spPr>
          <a:xfrm>
            <a:off x="508000" y="3530600"/>
            <a:ext cx="11176000" cy="4699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TextBox 16"/>
          <p:cNvSpPr txBox="1"/>
          <p:nvPr/>
        </p:nvSpPr>
        <p:spPr>
          <a:xfrm>
            <a:off x="762000" y="3619500"/>
            <a:ext cx="33274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Nhà ở</a:t>
            </a:r>
          </a:p>
        </p:txBody>
      </p:sp>
      <p:sp>
        <p:nvSpPr>
          <p:cNvPr id="18" name="TextBox 17"/>
          <p:cNvSpPr txBox="1"/>
          <p:nvPr/>
        </p:nvSpPr>
        <p:spPr>
          <a:xfrm>
            <a:off x="4241800" y="36195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3,0</a:t>
            </a:r>
          </a:p>
        </p:txBody>
      </p:sp>
      <p:sp>
        <p:nvSpPr>
          <p:cNvPr id="19" name="TextBox 18"/>
          <p:cNvSpPr txBox="1"/>
          <p:nvPr/>
        </p:nvSpPr>
        <p:spPr>
          <a:xfrm>
            <a:off x="6032500" y="36195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0</a:t>
            </a:r>
          </a:p>
        </p:txBody>
      </p:sp>
      <p:sp>
        <p:nvSpPr>
          <p:cNvPr id="20" name="TextBox 19"/>
          <p:cNvSpPr txBox="1"/>
          <p:nvPr/>
        </p:nvSpPr>
        <p:spPr>
          <a:xfrm>
            <a:off x="7861300" y="3619500"/>
            <a:ext cx="1778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0,0</a:t>
            </a:r>
          </a:p>
        </p:txBody>
      </p:sp>
      <p:sp>
        <p:nvSpPr>
          <p:cNvPr id="21" name="TextBox 20"/>
          <p:cNvSpPr txBox="1"/>
          <p:nvPr/>
        </p:nvSpPr>
        <p:spPr>
          <a:xfrm>
            <a:off x="9817100" y="3619500"/>
            <a:ext cx="1524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3,0</a:t>
            </a:r>
          </a:p>
        </p:txBody>
      </p:sp>
      <p:sp>
        <p:nvSpPr>
          <p:cNvPr id="22" name="Rounded Rectangle 21"/>
          <p:cNvSpPr/>
          <p:nvPr/>
        </p:nvSpPr>
        <p:spPr>
          <a:xfrm>
            <a:off x="508000" y="4025900"/>
            <a:ext cx="11176000" cy="469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TextBox 22"/>
          <p:cNvSpPr txBox="1"/>
          <p:nvPr/>
        </p:nvSpPr>
        <p:spPr>
          <a:xfrm>
            <a:off x="762000" y="4114800"/>
            <a:ext cx="33274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Ăn uống</a:t>
            </a:r>
          </a:p>
        </p:txBody>
      </p:sp>
      <p:sp>
        <p:nvSpPr>
          <p:cNvPr id="24" name="TextBox 23"/>
          <p:cNvSpPr txBox="1"/>
          <p:nvPr/>
        </p:nvSpPr>
        <p:spPr>
          <a:xfrm>
            <a:off x="4241800" y="41148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1,0</a:t>
            </a:r>
          </a:p>
        </p:txBody>
      </p:sp>
      <p:sp>
        <p:nvSpPr>
          <p:cNvPr id="25" name="TextBox 24"/>
          <p:cNvSpPr txBox="1"/>
          <p:nvPr/>
        </p:nvSpPr>
        <p:spPr>
          <a:xfrm>
            <a:off x="6032500" y="41148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3</a:t>
            </a:r>
          </a:p>
        </p:txBody>
      </p:sp>
      <p:sp>
        <p:nvSpPr>
          <p:cNvPr id="26" name="TextBox 25"/>
          <p:cNvSpPr txBox="1"/>
          <p:nvPr/>
        </p:nvSpPr>
        <p:spPr>
          <a:xfrm>
            <a:off x="7861300" y="4114800"/>
            <a:ext cx="1778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2,0</a:t>
            </a:r>
          </a:p>
        </p:txBody>
      </p:sp>
      <p:sp>
        <p:nvSpPr>
          <p:cNvPr id="27" name="TextBox 26"/>
          <p:cNvSpPr txBox="1"/>
          <p:nvPr/>
        </p:nvSpPr>
        <p:spPr>
          <a:xfrm>
            <a:off x="9817100" y="4114800"/>
            <a:ext cx="1524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3,0</a:t>
            </a:r>
          </a:p>
        </p:txBody>
      </p:sp>
      <p:sp>
        <p:nvSpPr>
          <p:cNvPr id="28" name="Rounded Rectangle 27"/>
          <p:cNvSpPr/>
          <p:nvPr/>
        </p:nvSpPr>
        <p:spPr>
          <a:xfrm>
            <a:off x="508000" y="4521200"/>
            <a:ext cx="11176000" cy="4699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TextBox 28"/>
          <p:cNvSpPr txBox="1"/>
          <p:nvPr/>
        </p:nvSpPr>
        <p:spPr>
          <a:xfrm>
            <a:off x="762000" y="4610100"/>
            <a:ext cx="33274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Di chuyển</a:t>
            </a:r>
          </a:p>
        </p:txBody>
      </p:sp>
      <p:sp>
        <p:nvSpPr>
          <p:cNvPr id="30" name="TextBox 29"/>
          <p:cNvSpPr txBox="1"/>
          <p:nvPr/>
        </p:nvSpPr>
        <p:spPr>
          <a:xfrm>
            <a:off x="4241800" y="46101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0,0</a:t>
            </a:r>
          </a:p>
        </p:txBody>
      </p:sp>
      <p:sp>
        <p:nvSpPr>
          <p:cNvPr id="31" name="TextBox 30"/>
          <p:cNvSpPr txBox="1"/>
          <p:nvPr/>
        </p:nvSpPr>
        <p:spPr>
          <a:xfrm>
            <a:off x="6032500" y="46101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2</a:t>
            </a:r>
          </a:p>
        </p:txBody>
      </p:sp>
      <p:sp>
        <p:nvSpPr>
          <p:cNvPr id="32" name="TextBox 31"/>
          <p:cNvSpPr txBox="1"/>
          <p:nvPr/>
        </p:nvSpPr>
        <p:spPr>
          <a:xfrm>
            <a:off x="7861300" y="4610100"/>
            <a:ext cx="1778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1,333333</a:t>
            </a:r>
          </a:p>
        </p:txBody>
      </p:sp>
      <p:sp>
        <p:nvSpPr>
          <p:cNvPr id="33" name="TextBox 32"/>
          <p:cNvSpPr txBox="1"/>
          <p:nvPr/>
        </p:nvSpPr>
        <p:spPr>
          <a:xfrm>
            <a:off x="9817100" y="4610100"/>
            <a:ext cx="1524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1,333333</a:t>
            </a:r>
          </a:p>
        </p:txBody>
      </p:sp>
      <p:sp>
        <p:nvSpPr>
          <p:cNvPr id="34" name="Rounded Rectangle 33"/>
          <p:cNvSpPr/>
          <p:nvPr/>
        </p:nvSpPr>
        <p:spPr>
          <a:xfrm>
            <a:off x="508000" y="5016500"/>
            <a:ext cx="11176000" cy="469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762000" y="5105400"/>
            <a:ext cx="33274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Giải trí</a:t>
            </a:r>
          </a:p>
        </p:txBody>
      </p:sp>
      <p:sp>
        <p:nvSpPr>
          <p:cNvPr id="36" name="TextBox 35"/>
          <p:cNvSpPr txBox="1"/>
          <p:nvPr/>
        </p:nvSpPr>
        <p:spPr>
          <a:xfrm>
            <a:off x="4241800" y="51054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0,0</a:t>
            </a:r>
          </a:p>
        </p:txBody>
      </p:sp>
      <p:sp>
        <p:nvSpPr>
          <p:cNvPr id="37" name="TextBox 36"/>
          <p:cNvSpPr txBox="1"/>
          <p:nvPr/>
        </p:nvSpPr>
        <p:spPr>
          <a:xfrm>
            <a:off x="6032500" y="5105400"/>
            <a:ext cx="1651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1</a:t>
            </a:r>
          </a:p>
        </p:txBody>
      </p:sp>
      <p:sp>
        <p:nvSpPr>
          <p:cNvPr id="38" name="TextBox 37"/>
          <p:cNvSpPr txBox="1"/>
          <p:nvPr/>
        </p:nvSpPr>
        <p:spPr>
          <a:xfrm>
            <a:off x="7861300" y="5105400"/>
            <a:ext cx="1778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0,666667</a:t>
            </a:r>
          </a:p>
        </p:txBody>
      </p:sp>
      <p:sp>
        <p:nvSpPr>
          <p:cNvPr id="39" name="TextBox 38"/>
          <p:cNvSpPr txBox="1"/>
          <p:nvPr/>
        </p:nvSpPr>
        <p:spPr>
          <a:xfrm>
            <a:off x="9817100" y="5105400"/>
            <a:ext cx="1524000" cy="3683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222820"/>
                </a:solidFill>
                <a:latin typeface="Arial"/>
              </a:defRPr>
            </a:pPr>
            <a:r>
              <a:rPr>
                <a:solidFill/>
              </a:rPr>
              <a:t>0,666667</a:t>
            </a:r>
          </a:p>
        </p:txBody>
      </p:sp>
      <p:sp>
        <p:nvSpPr>
          <p:cNvPr id="40" name="TextBox 39"/>
          <p:cNvSpPr txBox="1"/>
          <p:nvPr/>
        </p:nvSpPr>
        <p:spPr>
          <a:xfrm>
            <a:off x="508000" y="5676900"/>
            <a:ext cx="11176000" cy="3175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6840C6"/>
                </a:solidFill>
                <a:latin typeface="Arial"/>
              </a:defRPr>
            </a:pPr>
            <a:r>
              <a:rPr>
                <a:solidFill/>
              </a:rPr>
              <a:t>Hạn mức = chi bắt buộc + phần linh hoạt theo trọng số.</a:t>
            </a:r>
          </a:p>
        </p:txBody>
      </p:sp>
      <p:sp>
        <p:nvSpPr>
          <p:cNvPr id="41" name="TextBox 40"/>
          <p:cNvSpPr txBox="1"/>
          <p:nvPr/>
        </p:nvSpPr>
        <p:spPr>
          <a:xfrm>
            <a:off x="508000" y="6057900"/>
            <a:ext cx="11176000" cy="279400"/>
          </a:xfrm>
          <a:prstGeom prst="rect">
            <a:avLst/>
          </a:prstGeom>
          <a:noFill/>
          <a:ln>
            <a:solidFill/>
          </a:ln>
        </p:spPr>
        <p:txBody>
          <a:bodyPr wrap="none" lIns="0" rIns="0" tIns="0" bIns="0">
            <a:spAutoFit/>
          </a:bodyPr>
          <a:lstStyle/>
          <a:p>
            <a:pPr algn="l">
              <a:lnSpc>
                <a:spcPts val="1599"/>
              </a:lnSpc>
              <a:spcBef>
                <a:spcPts val="0"/>
              </a:spcBef>
              <a:spcAft>
                <a:spcPts val="0"/>
              </a:spcAft>
              <a:defRPr sz="1300" b="0">
                <a:solidFill>
                  <a:srgbClr val="596153"/>
                </a:solidFill>
                <a:latin typeface="Arial"/>
              </a:defRPr>
            </a:pPr>
            <a:r>
              <a:rPr>
                <a:solidFill/>
              </a:rPr>
              <a:t>Làm tròn theo phần dư lớn nhất: tổng hạn mức 8 triệu + tiết kiệm 2 triệu = 10 triệu.</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Dashboard: nhìn rõ tiền của mình trong một màn hình</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Ảnh chụp ứng dụng thực tế với dữ liệu mẫu</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10 / 15</a:t>
            </a:r>
          </a:p>
        </p:txBody>
      </p:sp>
      <p:sp>
        <p:nvSpPr>
          <p:cNvPr id="9" name="Rounded Rectangle 8"/>
          <p:cNvSpPr/>
          <p:nvPr/>
        </p:nvSpPr>
        <p:spPr>
          <a:xfrm>
            <a:off x="457200" y="1905000"/>
            <a:ext cx="6223000" cy="4279900"/>
          </a:xfrm>
          <a:prstGeom prst="roundRect">
            <a:avLst>
              <a:gd name="adj" fmla="val 12000"/>
            </a:avLst>
          </a:prstGeom>
          <a:solidFill>
            <a:srgbClr val="FFFFFF"/>
          </a:solidFill>
          <a:ln w="10160">
            <a:solidFill>
              <a:srgbClr val="DCE1D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Rounded Rectangle 10"/>
          <p:cNvSpPr/>
          <p:nvPr/>
        </p:nvSpPr>
        <p:spPr>
          <a:xfrm>
            <a:off x="7073900" y="2057400"/>
            <a:ext cx="5334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TextBox 11"/>
          <p:cNvSpPr txBox="1"/>
          <p:nvPr/>
        </p:nvSpPr>
        <p:spPr>
          <a:xfrm>
            <a:off x="7188200" y="21209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01</a:t>
            </a:r>
          </a:p>
        </p:txBody>
      </p:sp>
      <p:sp>
        <p:nvSpPr>
          <p:cNvPr id="13" name="TextBox 12"/>
          <p:cNvSpPr txBox="1"/>
          <p:nvPr/>
        </p:nvSpPr>
        <p:spPr>
          <a:xfrm>
            <a:off x="7772400" y="2095500"/>
            <a:ext cx="3848100" cy="3683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222820"/>
                </a:solidFill>
                <a:latin typeface="Arial"/>
              </a:defRPr>
            </a:pPr>
            <a:r>
              <a:rPr>
                <a:solidFill/>
              </a:rPr>
              <a:t>Tổng quan nhanh</a:t>
            </a:r>
          </a:p>
        </p:txBody>
      </p:sp>
      <p:sp>
        <p:nvSpPr>
          <p:cNvPr id="14" name="TextBox 13"/>
          <p:cNvSpPr txBox="1"/>
          <p:nvPr/>
        </p:nvSpPr>
        <p:spPr>
          <a:xfrm>
            <a:off x="7073900" y="2628900"/>
            <a:ext cx="4483100" cy="698500"/>
          </a:xfrm>
          <a:prstGeom prst="rect">
            <a:avLst/>
          </a:prstGeom>
          <a:noFill/>
          <a:ln>
            <a:solidFill/>
          </a:ln>
        </p:spPr>
        <p:txBody>
          <a:bodyPr wrap="none" lIns="0" rIns="0" tIns="0" bIns="0">
            <a:spAutoFit/>
          </a:bodyPr>
          <a:lstStyle/>
          <a:p>
            <a:pPr algn="l">
              <a:lnSpc>
                <a:spcPts val="2214"/>
              </a:lnSpc>
              <a:spcBef>
                <a:spcPts val="0"/>
              </a:spcBef>
              <a:spcAft>
                <a:spcPts val="0"/>
              </a:spcAft>
              <a:defRPr sz="1800" b="0">
                <a:solidFill>
                  <a:srgbClr val="596153"/>
                </a:solidFill>
                <a:latin typeface="Arial"/>
              </a:defRPr>
            </a:pPr>
            <a:r>
              <a:rPr>
                <a:solidFill/>
              </a:rPr>
              <a:t>Số dư, thu nhập, chi tiêu</a:t>
            </a:r>
          </a:p>
          <a:p>
            <a:pPr algn="l">
              <a:lnSpc>
                <a:spcPts val="2214"/>
              </a:lnSpc>
              <a:spcBef>
                <a:spcPts val="0"/>
              </a:spcBef>
              <a:spcAft>
                <a:spcPts val="0"/>
              </a:spcAft>
              <a:defRPr sz="1800" b="0">
                <a:solidFill>
                  <a:srgbClr val="596153"/>
                </a:solidFill>
                <a:latin typeface="Arial"/>
              </a:defRPr>
            </a:pPr>
            <a:r>
              <a:rPr>
                <a:solidFill/>
              </a:rPr>
              <a:t>và chênh lệch trong kỳ.</a:t>
            </a:r>
          </a:p>
        </p:txBody>
      </p:sp>
      <p:sp>
        <p:nvSpPr>
          <p:cNvPr id="15" name="Rounded Rectangle 14"/>
          <p:cNvSpPr/>
          <p:nvPr/>
        </p:nvSpPr>
        <p:spPr>
          <a:xfrm>
            <a:off x="7073900" y="3390900"/>
            <a:ext cx="5334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7188200" y="34544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02</a:t>
            </a:r>
          </a:p>
        </p:txBody>
      </p:sp>
      <p:sp>
        <p:nvSpPr>
          <p:cNvPr id="17" name="TextBox 16"/>
          <p:cNvSpPr txBox="1"/>
          <p:nvPr/>
        </p:nvSpPr>
        <p:spPr>
          <a:xfrm>
            <a:off x="7772400" y="3429000"/>
            <a:ext cx="3848100" cy="3683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222820"/>
                </a:solidFill>
                <a:latin typeface="Arial"/>
              </a:defRPr>
            </a:pPr>
            <a:r>
              <a:rPr>
                <a:solidFill/>
              </a:rPr>
              <a:t>Đọc xu hướng</a:t>
            </a:r>
          </a:p>
        </p:txBody>
      </p:sp>
      <p:sp>
        <p:nvSpPr>
          <p:cNvPr id="18" name="TextBox 17"/>
          <p:cNvSpPr txBox="1"/>
          <p:nvPr/>
        </p:nvSpPr>
        <p:spPr>
          <a:xfrm>
            <a:off x="7073900" y="3962400"/>
            <a:ext cx="4483100" cy="698500"/>
          </a:xfrm>
          <a:prstGeom prst="rect">
            <a:avLst/>
          </a:prstGeom>
          <a:noFill/>
          <a:ln>
            <a:solidFill/>
          </a:ln>
        </p:spPr>
        <p:txBody>
          <a:bodyPr wrap="none" lIns="0" rIns="0" tIns="0" bIns="0">
            <a:spAutoFit/>
          </a:bodyPr>
          <a:lstStyle/>
          <a:p>
            <a:pPr algn="l">
              <a:lnSpc>
                <a:spcPts val="2214"/>
              </a:lnSpc>
              <a:spcBef>
                <a:spcPts val="0"/>
              </a:spcBef>
              <a:spcAft>
                <a:spcPts val="0"/>
              </a:spcAft>
              <a:defRPr sz="1800" b="0">
                <a:solidFill>
                  <a:srgbClr val="596153"/>
                </a:solidFill>
                <a:latin typeface="Arial"/>
              </a:defRPr>
            </a:pPr>
            <a:r>
              <a:rPr>
                <a:solidFill/>
              </a:rPr>
              <a:t>Biểu đồ dòng tiền 6 tháng</a:t>
            </a:r>
          </a:p>
          <a:p>
            <a:pPr algn="l">
              <a:lnSpc>
                <a:spcPts val="2214"/>
              </a:lnSpc>
              <a:spcBef>
                <a:spcPts val="0"/>
              </a:spcBef>
              <a:spcAft>
                <a:spcPts val="0"/>
              </a:spcAft>
              <a:defRPr sz="1800" b="0">
                <a:solidFill>
                  <a:srgbClr val="596153"/>
                </a:solidFill>
                <a:latin typeface="Arial"/>
              </a:defRPr>
            </a:pPr>
            <a:r>
              <a:rPr>
                <a:solidFill/>
              </a:rPr>
              <a:t>và cơ cấu chi theo danh mục.</a:t>
            </a:r>
          </a:p>
        </p:txBody>
      </p:sp>
      <p:sp>
        <p:nvSpPr>
          <p:cNvPr id="19" name="Rounded Rectangle 18"/>
          <p:cNvSpPr/>
          <p:nvPr/>
        </p:nvSpPr>
        <p:spPr>
          <a:xfrm>
            <a:off x="7073900" y="4724400"/>
            <a:ext cx="533400" cy="3429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TextBox 19"/>
          <p:cNvSpPr txBox="1"/>
          <p:nvPr/>
        </p:nvSpPr>
        <p:spPr>
          <a:xfrm>
            <a:off x="7188200" y="47879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6840C6"/>
                </a:solidFill>
                <a:latin typeface="Arial"/>
              </a:defRPr>
            </a:pPr>
            <a:r>
              <a:rPr>
                <a:solidFill/>
              </a:rPr>
              <a:t>03</a:t>
            </a:r>
          </a:p>
        </p:txBody>
      </p:sp>
      <p:sp>
        <p:nvSpPr>
          <p:cNvPr id="21" name="TextBox 20"/>
          <p:cNvSpPr txBox="1"/>
          <p:nvPr/>
        </p:nvSpPr>
        <p:spPr>
          <a:xfrm>
            <a:off x="7772400" y="4762500"/>
            <a:ext cx="3848100" cy="3683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222820"/>
                </a:solidFill>
                <a:latin typeface="Arial"/>
              </a:defRPr>
            </a:pPr>
            <a:r>
              <a:rPr>
                <a:solidFill/>
              </a:rPr>
              <a:t>Hành động rõ ràng</a:t>
            </a:r>
          </a:p>
        </p:txBody>
      </p:sp>
      <p:sp>
        <p:nvSpPr>
          <p:cNvPr id="22" name="TextBox 21"/>
          <p:cNvSpPr txBox="1"/>
          <p:nvPr/>
        </p:nvSpPr>
        <p:spPr>
          <a:xfrm>
            <a:off x="7073900" y="5295900"/>
            <a:ext cx="4483100" cy="698500"/>
          </a:xfrm>
          <a:prstGeom prst="rect">
            <a:avLst/>
          </a:prstGeom>
          <a:noFill/>
          <a:ln>
            <a:solidFill/>
          </a:ln>
        </p:spPr>
        <p:txBody>
          <a:bodyPr wrap="none" lIns="0" rIns="0" tIns="0" bIns="0">
            <a:spAutoFit/>
          </a:bodyPr>
          <a:lstStyle/>
          <a:p>
            <a:pPr algn="l">
              <a:lnSpc>
                <a:spcPts val="2214"/>
              </a:lnSpc>
              <a:spcBef>
                <a:spcPts val="0"/>
              </a:spcBef>
              <a:spcAft>
                <a:spcPts val="0"/>
              </a:spcAft>
              <a:defRPr sz="1800" b="0">
                <a:solidFill>
                  <a:srgbClr val="596153"/>
                </a:solidFill>
                <a:latin typeface="Arial"/>
              </a:defRPr>
            </a:pPr>
            <a:r>
              <a:rPr>
                <a:solidFill/>
              </a:rPr>
              <a:t>Thêm giao dịch, tìm kiếm</a:t>
            </a:r>
          </a:p>
          <a:p>
            <a:pPr algn="l">
              <a:lnSpc>
                <a:spcPts val="2214"/>
              </a:lnSpc>
              <a:spcBef>
                <a:spcPts val="0"/>
              </a:spcBef>
              <a:spcAft>
                <a:spcPts val="0"/>
              </a:spcAft>
              <a:defRPr sz="1800" b="0">
                <a:solidFill>
                  <a:srgbClr val="596153"/>
                </a:solidFill>
                <a:latin typeface="Arial"/>
              </a:defRPr>
            </a:pPr>
            <a:r>
              <a:rPr>
                <a:solidFill/>
              </a:rPr>
              <a:t>và theo dõi ngân sách.</a:t>
            </a:r>
          </a:p>
        </p:txBody>
      </p:sp>
      <p:pic>
        <p:nvPicPr>
          <p:cNvPr id="25" name="Picture 24" descr="image.png"/>
          <p:cNvPicPr>
            <a:picLocks noChangeAspect="1"/>
          </p:cNvPicPr>
          <p:nvPr/>
        </p:nvPicPr>
        <p:blipFill>
          <a:blip r:embed="rId5"/>
          <a:srcRect b="44921"/>
          <a:stretch>
            <a:fillRect/>
          </a:stretch>
        </p:blipFill>
        <p:spPr>
          <a:xfrm>
            <a:off x="558800" y="2006600"/>
            <a:ext cx="6019800" cy="4064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Trẻ trung trong cảm giác, rõ ràng trong thao tác</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Finora V2 • responsive • chuyển động có kiểm soát</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11 / 15</a:t>
            </a:r>
          </a:p>
        </p:txBody>
      </p:sp>
      <p:sp>
        <p:nvSpPr>
          <p:cNvPr id="9" name="Rounded Rectangle 8"/>
          <p:cNvSpPr/>
          <p:nvPr/>
        </p:nvSpPr>
        <p:spPr>
          <a:xfrm>
            <a:off x="698500" y="1955800"/>
            <a:ext cx="2336800" cy="4292600"/>
          </a:xfrm>
          <a:prstGeom prst="roundRect">
            <a:avLst>
              <a:gd name="adj" fmla="val 12000"/>
            </a:avLst>
          </a:prstGeom>
          <a:solidFill>
            <a:srgbClr val="22282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Rounded Rectangle 10"/>
          <p:cNvSpPr/>
          <p:nvPr/>
        </p:nvSpPr>
        <p:spPr>
          <a:xfrm>
            <a:off x="3479800" y="1993900"/>
            <a:ext cx="8204200" cy="18796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TextBox 11"/>
          <p:cNvSpPr txBox="1"/>
          <p:nvPr/>
        </p:nvSpPr>
        <p:spPr>
          <a:xfrm>
            <a:off x="3759200" y="2273300"/>
            <a:ext cx="7607300" cy="444500"/>
          </a:xfrm>
          <a:prstGeom prst="rect">
            <a:avLst/>
          </a:prstGeom>
          <a:noFill/>
          <a:ln>
            <a:solidFill/>
          </a:ln>
        </p:spPr>
        <p:txBody>
          <a:bodyPr wrap="none" lIns="0" rIns="0" tIns="0" bIns="0">
            <a:spAutoFit/>
          </a:bodyPr>
          <a:lstStyle/>
          <a:p>
            <a:pPr algn="l">
              <a:lnSpc>
                <a:spcPts val="2829"/>
              </a:lnSpc>
              <a:spcBef>
                <a:spcPts val="0"/>
              </a:spcBef>
              <a:spcAft>
                <a:spcPts val="0"/>
              </a:spcAft>
              <a:defRPr sz="2300" b="1">
                <a:solidFill>
                  <a:srgbClr val="222820"/>
                </a:solidFill>
                <a:latin typeface="Arial"/>
              </a:defRPr>
            </a:pPr>
            <a:r>
              <a:rPr>
                <a:solidFill/>
              </a:rPr>
              <a:t>Nền ấm + điểm nhấn lavender/lime</a:t>
            </a:r>
          </a:p>
        </p:txBody>
      </p:sp>
      <p:sp>
        <p:nvSpPr>
          <p:cNvPr id="13" name="TextBox 12"/>
          <p:cNvSpPr txBox="1"/>
          <p:nvPr/>
        </p:nvSpPr>
        <p:spPr>
          <a:xfrm>
            <a:off x="3759200" y="2908300"/>
            <a:ext cx="7569200" cy="736600"/>
          </a:xfrm>
          <a:prstGeom prst="rect">
            <a:avLst/>
          </a:prstGeom>
          <a:noFill/>
          <a:ln>
            <a:solidFill/>
          </a:ln>
        </p:spPr>
        <p:txBody>
          <a:bodyPr wrap="none" lIns="0" rIns="0" tIns="0" bIns="0">
            <a:spAutoFit/>
          </a:bodyPr>
          <a:lstStyle/>
          <a:p>
            <a:pPr algn="l">
              <a:lnSpc>
                <a:spcPts val="2214"/>
              </a:lnSpc>
              <a:spcBef>
                <a:spcPts val="0"/>
              </a:spcBef>
              <a:spcAft>
                <a:spcPts val="0"/>
              </a:spcAft>
              <a:defRPr sz="1800" b="0">
                <a:solidFill>
                  <a:srgbClr val="222820"/>
                </a:solidFill>
                <a:latin typeface="Arial"/>
              </a:defRPr>
            </a:pPr>
            <a:r>
              <a:rPr>
                <a:solidFill/>
              </a:rPr>
              <a:t>Sidebar tối, số dư và ngân sách dẫn dắt bố cục.</a:t>
            </a:r>
          </a:p>
          <a:p>
            <a:pPr algn="l">
              <a:lnSpc>
                <a:spcPts val="2214"/>
              </a:lnSpc>
              <a:spcBef>
                <a:spcPts val="0"/>
              </a:spcBef>
              <a:spcAft>
                <a:spcPts val="0"/>
              </a:spcAft>
              <a:defRPr sz="1800" b="0">
                <a:solidFill>
                  <a:srgbClr val="222820"/>
                </a:solidFill>
                <a:latin typeface="Arial"/>
              </a:defRPr>
            </a:pPr>
            <a:r>
              <a:rPr>
                <a:solidFill/>
              </a:rPr>
              <a:t>Giao diện desktop và mobile dùng cùng token.</a:t>
            </a:r>
          </a:p>
        </p:txBody>
      </p:sp>
      <p:sp>
        <p:nvSpPr>
          <p:cNvPr id="14" name="Rounded Rectangle 13"/>
          <p:cNvSpPr/>
          <p:nvPr/>
        </p:nvSpPr>
        <p:spPr>
          <a:xfrm>
            <a:off x="3479800" y="4114800"/>
            <a:ext cx="3937000" cy="20574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TextBox 14"/>
          <p:cNvSpPr txBox="1"/>
          <p:nvPr/>
        </p:nvSpPr>
        <p:spPr>
          <a:xfrm>
            <a:off x="3746500" y="4368800"/>
            <a:ext cx="3403600" cy="6858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222820"/>
                </a:solidFill>
                <a:latin typeface="Arial"/>
              </a:defRPr>
            </a:pPr>
            <a:r>
              <a:rPr>
                <a:solidFill/>
              </a:rPr>
              <a:t>Chuyển động vui nhộn</a:t>
            </a:r>
          </a:p>
        </p:txBody>
      </p:sp>
      <p:sp>
        <p:nvSpPr>
          <p:cNvPr id="16" name="TextBox 15"/>
          <p:cNvSpPr txBox="1"/>
          <p:nvPr/>
        </p:nvSpPr>
        <p:spPr>
          <a:xfrm>
            <a:off x="3746500" y="5143500"/>
            <a:ext cx="3390900" cy="850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Nút nảy, thẻ nổi khi rê chuột, minh</a:t>
            </a:r>
          </a:p>
          <a:p>
            <a:pPr algn="l">
              <a:lnSpc>
                <a:spcPts val="1968"/>
              </a:lnSpc>
              <a:spcBef>
                <a:spcPts val="0"/>
              </a:spcBef>
              <a:spcAft>
                <a:spcPts val="0"/>
              </a:spcAft>
              <a:defRPr sz="1600" b="0">
                <a:solidFill>
                  <a:srgbClr val="596153"/>
                </a:solidFill>
                <a:latin typeface="Arial"/>
              </a:defRPr>
            </a:pPr>
            <a:r>
              <a:rPr>
                <a:solidFill/>
              </a:rPr>
              <a:t>họa tài chính chuyển động.</a:t>
            </a:r>
          </a:p>
        </p:txBody>
      </p:sp>
      <p:sp>
        <p:nvSpPr>
          <p:cNvPr id="17" name="Rounded Rectangle 16"/>
          <p:cNvSpPr/>
          <p:nvPr/>
        </p:nvSpPr>
        <p:spPr>
          <a:xfrm>
            <a:off x="7658100" y="4114800"/>
            <a:ext cx="4025900" cy="20574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7924800" y="4368800"/>
            <a:ext cx="3492500" cy="685800"/>
          </a:xfrm>
          <a:prstGeom prst="rect">
            <a:avLst/>
          </a:prstGeom>
          <a:noFill/>
          <a:ln>
            <a:solidFill/>
          </a:ln>
        </p:spPr>
        <p:txBody>
          <a:bodyPr wrap="none" lIns="0" rIns="0" tIns="0" bIns="0">
            <a:spAutoFit/>
          </a:bodyPr>
          <a:lstStyle/>
          <a:p>
            <a:pPr algn="l">
              <a:lnSpc>
                <a:spcPts val="2460"/>
              </a:lnSpc>
              <a:spcBef>
                <a:spcPts val="0"/>
              </a:spcBef>
              <a:spcAft>
                <a:spcPts val="0"/>
              </a:spcAft>
              <a:defRPr sz="2000" b="1">
                <a:solidFill>
                  <a:srgbClr val="345D3E"/>
                </a:solidFill>
                <a:latin typeface="Arial"/>
              </a:defRPr>
            </a:pPr>
            <a:r>
              <a:rPr>
                <a:solidFill/>
              </a:rPr>
              <a:t>Tôn trọng người dùng</a:t>
            </a:r>
          </a:p>
        </p:txBody>
      </p:sp>
      <p:sp>
        <p:nvSpPr>
          <p:cNvPr id="19" name="TextBox 18"/>
          <p:cNvSpPr txBox="1"/>
          <p:nvPr/>
        </p:nvSpPr>
        <p:spPr>
          <a:xfrm>
            <a:off x="7924800" y="5143500"/>
            <a:ext cx="3479800" cy="850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345D3E"/>
                </a:solidFill>
                <a:latin typeface="Arial"/>
              </a:defRPr>
            </a:pPr>
            <a:r>
              <a:rPr>
                <a:solidFill/>
              </a:rPr>
              <a:t>Nút giảm chuyển động; lưu lựa chọn</a:t>
            </a:r>
          </a:p>
          <a:p>
            <a:pPr algn="l">
              <a:lnSpc>
                <a:spcPts val="1968"/>
              </a:lnSpc>
              <a:spcBef>
                <a:spcPts val="0"/>
              </a:spcBef>
              <a:spcAft>
                <a:spcPts val="0"/>
              </a:spcAft>
              <a:defRPr sz="1600" b="0">
                <a:solidFill>
                  <a:srgbClr val="345D3E"/>
                </a:solidFill>
                <a:latin typeface="Arial"/>
              </a:defRPr>
            </a:pPr>
            <a:r>
              <a:rPr>
                <a:solidFill/>
              </a:rPr>
              <a:t>và theo cài đặt hệ điều hành.</a:t>
            </a:r>
          </a:p>
        </p:txBody>
      </p:sp>
      <p:pic>
        <p:nvPicPr>
          <p:cNvPr id="22" name="Picture 21" descr="image.png"/>
          <p:cNvPicPr>
            <a:picLocks noChangeAspect="1"/>
          </p:cNvPicPr>
          <p:nvPr/>
        </p:nvPicPr>
        <p:blipFill>
          <a:blip r:embed="rId5"/>
          <a:srcRect b="69175"/>
          <a:stretch>
            <a:fillRect/>
          </a:stretch>
        </p:blipFill>
        <p:spPr>
          <a:xfrm>
            <a:off x="800100" y="2057400"/>
            <a:ext cx="2133600" cy="40894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Bảo vệ dữ liệu và kiểm thử các quy tắc cốt lõi</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Kết quả kiểm tra Finora V2 • 29/10/2026</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12 / 15</a:t>
            </a:r>
          </a:p>
        </p:txBody>
      </p:sp>
      <p:sp>
        <p:nvSpPr>
          <p:cNvPr id="9" name="Rounded Rectangle 8"/>
          <p:cNvSpPr/>
          <p:nvPr/>
        </p:nvSpPr>
        <p:spPr>
          <a:xfrm>
            <a:off x="508000" y="2032000"/>
            <a:ext cx="5461000" cy="41402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787400" y="2298700"/>
            <a:ext cx="4902200" cy="419100"/>
          </a:xfrm>
          <a:prstGeom prst="rect">
            <a:avLst/>
          </a:prstGeom>
          <a:noFill/>
          <a:ln>
            <a:solidFill/>
          </a:ln>
        </p:spPr>
        <p:txBody>
          <a:bodyPr wrap="none" lIns="0" rIns="0" tIns="0" bIns="0">
            <a:spAutoFit/>
          </a:bodyPr>
          <a:lstStyle/>
          <a:p>
            <a:pPr algn="l">
              <a:lnSpc>
                <a:spcPts val="2706"/>
              </a:lnSpc>
              <a:spcBef>
                <a:spcPts val="0"/>
              </a:spcBef>
              <a:spcAft>
                <a:spcPts val="0"/>
              </a:spcAft>
              <a:defRPr sz="2200" b="1">
                <a:solidFill>
                  <a:srgbClr val="222820"/>
                </a:solidFill>
                <a:latin typeface="Arial"/>
              </a:defRPr>
            </a:pPr>
            <a:r>
              <a:rPr>
                <a:solidFill/>
              </a:rPr>
              <a:t>Bảo vệ ở backend</a:t>
            </a:r>
          </a:p>
        </p:txBody>
      </p:sp>
      <p:sp>
        <p:nvSpPr>
          <p:cNvPr id="11" name="Oval 10"/>
          <p:cNvSpPr/>
          <p:nvPr/>
        </p:nvSpPr>
        <p:spPr>
          <a:xfrm>
            <a:off x="812800" y="3048000"/>
            <a:ext cx="88900" cy="889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TextBox 11"/>
          <p:cNvSpPr txBox="1"/>
          <p:nvPr/>
        </p:nvSpPr>
        <p:spPr>
          <a:xfrm>
            <a:off x="1041400" y="2933700"/>
            <a:ext cx="4648200" cy="469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Băm mật khẩu bằng scrypt + salt</a:t>
            </a:r>
          </a:p>
        </p:txBody>
      </p:sp>
      <p:sp>
        <p:nvSpPr>
          <p:cNvPr id="13" name="Oval 12"/>
          <p:cNvSpPr/>
          <p:nvPr/>
        </p:nvSpPr>
        <p:spPr>
          <a:xfrm>
            <a:off x="812800" y="3594100"/>
            <a:ext cx="88900" cy="889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TextBox 13"/>
          <p:cNvSpPr txBox="1"/>
          <p:nvPr/>
        </p:nvSpPr>
        <p:spPr>
          <a:xfrm>
            <a:off x="1041400" y="3479800"/>
            <a:ext cx="4648200" cy="469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Cookie phiên HttpOnly, SameSite</a:t>
            </a:r>
          </a:p>
        </p:txBody>
      </p:sp>
      <p:sp>
        <p:nvSpPr>
          <p:cNvPr id="15" name="Oval 14"/>
          <p:cNvSpPr/>
          <p:nvPr/>
        </p:nvSpPr>
        <p:spPr>
          <a:xfrm>
            <a:off x="812800" y="4140200"/>
            <a:ext cx="88900" cy="889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1041400" y="4025900"/>
            <a:ext cx="4648200" cy="469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Kiểm tra quyền sở hữu mọi tài nguyên</a:t>
            </a:r>
          </a:p>
        </p:txBody>
      </p:sp>
      <p:sp>
        <p:nvSpPr>
          <p:cNvPr id="17" name="Oval 16"/>
          <p:cNvSpPr/>
          <p:nvPr/>
        </p:nvSpPr>
        <p:spPr>
          <a:xfrm>
            <a:off x="812800" y="4686300"/>
            <a:ext cx="88900" cy="889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TextBox 17"/>
          <p:cNvSpPr txBox="1"/>
          <p:nvPr/>
        </p:nvSpPr>
        <p:spPr>
          <a:xfrm>
            <a:off x="1041400" y="4572000"/>
            <a:ext cx="4648200" cy="469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Kiểm tra Origin, DTO và giới hạn tốc độ</a:t>
            </a:r>
          </a:p>
        </p:txBody>
      </p:sp>
      <p:sp>
        <p:nvSpPr>
          <p:cNvPr id="19" name="Oval 18"/>
          <p:cNvSpPr/>
          <p:nvPr/>
        </p:nvSpPr>
        <p:spPr>
          <a:xfrm>
            <a:off x="812800" y="5232400"/>
            <a:ext cx="88900" cy="88900"/>
          </a:xfrm>
          <a:prstGeom prst="ellipse">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TextBox 19"/>
          <p:cNvSpPr txBox="1"/>
          <p:nvPr/>
        </p:nvSpPr>
        <p:spPr>
          <a:xfrm>
            <a:off x="1041400" y="5118100"/>
            <a:ext cx="4648200" cy="4699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222820"/>
                </a:solidFill>
                <a:latin typeface="Arial"/>
              </a:defRPr>
            </a:pPr>
            <a:r>
              <a:rPr>
                <a:solidFill/>
              </a:rPr>
              <a:t>Ràng buộc dữ liệu tại PostgreSQL</a:t>
            </a:r>
          </a:p>
        </p:txBody>
      </p:sp>
      <p:sp>
        <p:nvSpPr>
          <p:cNvPr id="21" name="Rounded Rectangle 20"/>
          <p:cNvSpPr/>
          <p:nvPr/>
        </p:nvSpPr>
        <p:spPr>
          <a:xfrm>
            <a:off x="6235700" y="2032000"/>
            <a:ext cx="5448300" cy="19558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6502400" y="2273300"/>
            <a:ext cx="1397000" cy="800100"/>
          </a:xfrm>
          <a:prstGeom prst="rect">
            <a:avLst/>
          </a:prstGeom>
          <a:noFill/>
          <a:ln>
            <a:solidFill/>
          </a:ln>
        </p:spPr>
        <p:txBody>
          <a:bodyPr wrap="none" lIns="0" rIns="0" tIns="0" bIns="0">
            <a:spAutoFit/>
          </a:bodyPr>
          <a:lstStyle/>
          <a:p>
            <a:pPr algn="l">
              <a:lnSpc>
                <a:spcPts val="5904"/>
              </a:lnSpc>
              <a:spcBef>
                <a:spcPts val="0"/>
              </a:spcBef>
              <a:spcAft>
                <a:spcPts val="0"/>
              </a:spcAft>
              <a:defRPr sz="4800" b="1">
                <a:solidFill>
                  <a:srgbClr val="6840C6"/>
                </a:solidFill>
                <a:latin typeface="Arial"/>
              </a:defRPr>
            </a:pPr>
            <a:r>
              <a:rPr>
                <a:solidFill/>
              </a:rPr>
              <a:t>18</a:t>
            </a:r>
          </a:p>
        </p:txBody>
      </p:sp>
      <p:sp>
        <p:nvSpPr>
          <p:cNvPr id="23" name="TextBox 22"/>
          <p:cNvSpPr txBox="1"/>
          <p:nvPr/>
        </p:nvSpPr>
        <p:spPr>
          <a:xfrm>
            <a:off x="8039100" y="2400300"/>
            <a:ext cx="3352800" cy="4445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test API / nghiệp vụ</a:t>
            </a:r>
          </a:p>
        </p:txBody>
      </p:sp>
      <p:sp>
        <p:nvSpPr>
          <p:cNvPr id="24" name="TextBox 23"/>
          <p:cNvSpPr txBox="1"/>
          <p:nvPr/>
        </p:nvSpPr>
        <p:spPr>
          <a:xfrm>
            <a:off x="6502400" y="3187700"/>
            <a:ext cx="4914900" cy="6096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Phân bổ, phiên đăng nhập, phân quyền,</a:t>
            </a:r>
          </a:p>
          <a:p>
            <a:pPr algn="l">
              <a:lnSpc>
                <a:spcPts val="1845"/>
              </a:lnSpc>
              <a:spcBef>
                <a:spcPts val="0"/>
              </a:spcBef>
              <a:spcAft>
                <a:spcPts val="0"/>
              </a:spcAft>
              <a:defRPr sz="1500" b="0">
                <a:solidFill>
                  <a:srgbClr val="596153"/>
                </a:solidFill>
                <a:latin typeface="Arial"/>
              </a:defRPr>
            </a:pPr>
            <a:r>
              <a:rPr>
                <a:solidFill/>
              </a:rPr>
              <a:t>giao dịch, CSV và lưu ngân sách đồng thời.</a:t>
            </a:r>
          </a:p>
        </p:txBody>
      </p:sp>
      <p:sp>
        <p:nvSpPr>
          <p:cNvPr id="25" name="Rounded Rectangle 24"/>
          <p:cNvSpPr/>
          <p:nvPr/>
        </p:nvSpPr>
        <p:spPr>
          <a:xfrm>
            <a:off x="6235700" y="4216400"/>
            <a:ext cx="5448300" cy="19558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TextBox 25"/>
          <p:cNvSpPr txBox="1"/>
          <p:nvPr/>
        </p:nvSpPr>
        <p:spPr>
          <a:xfrm>
            <a:off x="6502400" y="4445000"/>
            <a:ext cx="1397000" cy="800100"/>
          </a:xfrm>
          <a:prstGeom prst="rect">
            <a:avLst/>
          </a:prstGeom>
          <a:noFill/>
          <a:ln>
            <a:solidFill/>
          </a:ln>
        </p:spPr>
        <p:txBody>
          <a:bodyPr wrap="none" lIns="0" rIns="0" tIns="0" bIns="0">
            <a:spAutoFit/>
          </a:bodyPr>
          <a:lstStyle/>
          <a:p>
            <a:pPr algn="l">
              <a:lnSpc>
                <a:spcPts val="5904"/>
              </a:lnSpc>
              <a:spcBef>
                <a:spcPts val="0"/>
              </a:spcBef>
              <a:spcAft>
                <a:spcPts val="0"/>
              </a:spcAft>
              <a:defRPr sz="4800" b="1">
                <a:solidFill>
                  <a:srgbClr val="345D3E"/>
                </a:solidFill>
                <a:latin typeface="Arial"/>
              </a:defRPr>
            </a:pPr>
            <a:r>
              <a:rPr>
                <a:solidFill/>
              </a:rPr>
              <a:t>6</a:t>
            </a:r>
          </a:p>
        </p:txBody>
      </p:sp>
      <p:sp>
        <p:nvSpPr>
          <p:cNvPr id="27" name="TextBox 26"/>
          <p:cNvSpPr txBox="1"/>
          <p:nvPr/>
        </p:nvSpPr>
        <p:spPr>
          <a:xfrm>
            <a:off x="8039100" y="4597400"/>
            <a:ext cx="3352800" cy="4318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345D3E"/>
                </a:solidFill>
                <a:latin typeface="Arial"/>
              </a:defRPr>
            </a:pPr>
            <a:r>
              <a:rPr>
                <a:solidFill/>
              </a:rPr>
              <a:t>test trình duyệt</a:t>
            </a:r>
          </a:p>
        </p:txBody>
      </p:sp>
      <p:sp>
        <p:nvSpPr>
          <p:cNvPr id="28" name="TextBox 27"/>
          <p:cNvSpPr txBox="1"/>
          <p:nvPr/>
        </p:nvSpPr>
        <p:spPr>
          <a:xfrm>
            <a:off x="6502400" y="5397500"/>
            <a:ext cx="4914900" cy="6096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345D3E"/>
                </a:solidFill>
                <a:latin typeface="Arial"/>
              </a:defRPr>
            </a:pPr>
            <a:r>
              <a:rPr>
                <a:solidFill/>
              </a:rPr>
              <a:t>Thao tác, accessibility, năm viewport,</a:t>
            </a:r>
          </a:p>
          <a:p>
            <a:pPr algn="l">
              <a:lnSpc>
                <a:spcPts val="1845"/>
              </a:lnSpc>
              <a:spcBef>
                <a:spcPts val="0"/>
              </a:spcBef>
              <a:spcAft>
                <a:spcPts val="0"/>
              </a:spcAft>
              <a:defRPr sz="1500" b="0">
                <a:solidFill>
                  <a:srgbClr val="345D3E"/>
                </a:solidFill>
                <a:latin typeface="Arial"/>
              </a:defRPr>
            </a:pPr>
            <a:r>
              <a:rPr>
                <a:solidFill/>
              </a:rPr>
              <a:t>lỗi phiên và giảm chuyển động.</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Quản lý dự án theo đầu ra có thể nghiệm thu</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Cấu trúc công việc (WBS) • các đầu ra của phạm vi MVP</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13 / 15</a:t>
            </a:r>
          </a:p>
        </p:txBody>
      </p:sp>
      <p:sp>
        <p:nvSpPr>
          <p:cNvPr id="9" name="Rounded Rectangle 8"/>
          <p:cNvSpPr/>
          <p:nvPr/>
        </p:nvSpPr>
        <p:spPr>
          <a:xfrm>
            <a:off x="508000" y="1993900"/>
            <a:ext cx="11176000" cy="6350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647700" y="2133600"/>
            <a:ext cx="4572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762000" y="2197100"/>
            <a:ext cx="2286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01</a:t>
            </a:r>
          </a:p>
        </p:txBody>
      </p:sp>
      <p:sp>
        <p:nvSpPr>
          <p:cNvPr id="12" name="TextBox 11"/>
          <p:cNvSpPr txBox="1"/>
          <p:nvPr/>
        </p:nvSpPr>
        <p:spPr>
          <a:xfrm>
            <a:off x="1308100" y="2171700"/>
            <a:ext cx="35814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Phân tích &amp; thiết kế</a:t>
            </a:r>
          </a:p>
        </p:txBody>
      </p:sp>
      <p:sp>
        <p:nvSpPr>
          <p:cNvPr id="13" name="TextBox 12"/>
          <p:cNvSpPr txBox="1"/>
          <p:nvPr/>
        </p:nvSpPr>
        <p:spPr>
          <a:xfrm>
            <a:off x="5054600" y="2171700"/>
            <a:ext cx="6324600" cy="3683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Use case, kiến trúc, ERD, quy tắc tài chính</a:t>
            </a:r>
          </a:p>
        </p:txBody>
      </p:sp>
      <p:sp>
        <p:nvSpPr>
          <p:cNvPr id="14" name="Rounded Rectangle 13"/>
          <p:cNvSpPr/>
          <p:nvPr/>
        </p:nvSpPr>
        <p:spPr>
          <a:xfrm>
            <a:off x="508000" y="2730500"/>
            <a:ext cx="11176000" cy="6350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Rounded Rectangle 14"/>
          <p:cNvSpPr/>
          <p:nvPr/>
        </p:nvSpPr>
        <p:spPr>
          <a:xfrm>
            <a:off x="647700" y="2870200"/>
            <a:ext cx="4572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762000" y="2933700"/>
            <a:ext cx="2286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02</a:t>
            </a:r>
          </a:p>
        </p:txBody>
      </p:sp>
      <p:sp>
        <p:nvSpPr>
          <p:cNvPr id="17" name="TextBox 16"/>
          <p:cNvSpPr txBox="1"/>
          <p:nvPr/>
        </p:nvSpPr>
        <p:spPr>
          <a:xfrm>
            <a:off x="1308100" y="2908300"/>
            <a:ext cx="35814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Nền tảng &amp; dữ liệu</a:t>
            </a:r>
          </a:p>
        </p:txBody>
      </p:sp>
      <p:sp>
        <p:nvSpPr>
          <p:cNvPr id="18" name="TextBox 17"/>
          <p:cNvSpPr txBox="1"/>
          <p:nvPr/>
        </p:nvSpPr>
        <p:spPr>
          <a:xfrm>
            <a:off x="5054600" y="2908300"/>
            <a:ext cx="6324600" cy="3683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Monorepo, cấu hình môi trường, migration</a:t>
            </a:r>
          </a:p>
        </p:txBody>
      </p:sp>
      <p:sp>
        <p:nvSpPr>
          <p:cNvPr id="19" name="Rounded Rectangle 18"/>
          <p:cNvSpPr/>
          <p:nvPr/>
        </p:nvSpPr>
        <p:spPr>
          <a:xfrm>
            <a:off x="508000" y="3467100"/>
            <a:ext cx="11176000" cy="6350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ounded Rectangle 19"/>
          <p:cNvSpPr/>
          <p:nvPr/>
        </p:nvSpPr>
        <p:spPr>
          <a:xfrm>
            <a:off x="647700" y="3606800"/>
            <a:ext cx="4572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762000" y="3670300"/>
            <a:ext cx="2286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03</a:t>
            </a:r>
          </a:p>
        </p:txBody>
      </p:sp>
      <p:sp>
        <p:nvSpPr>
          <p:cNvPr id="22" name="TextBox 21"/>
          <p:cNvSpPr txBox="1"/>
          <p:nvPr/>
        </p:nvSpPr>
        <p:spPr>
          <a:xfrm>
            <a:off x="1308100" y="3644900"/>
            <a:ext cx="35814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Backend &amp; nghiệp vụ</a:t>
            </a:r>
          </a:p>
        </p:txBody>
      </p:sp>
      <p:sp>
        <p:nvSpPr>
          <p:cNvPr id="23" name="TextBox 22"/>
          <p:cNvSpPr txBox="1"/>
          <p:nvPr/>
        </p:nvSpPr>
        <p:spPr>
          <a:xfrm>
            <a:off x="5054600" y="3644900"/>
            <a:ext cx="6324600" cy="3683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Xác thực, giao dịch, ngân sách, báo cáo</a:t>
            </a:r>
          </a:p>
        </p:txBody>
      </p:sp>
      <p:sp>
        <p:nvSpPr>
          <p:cNvPr id="24" name="Rounded Rectangle 23"/>
          <p:cNvSpPr/>
          <p:nvPr/>
        </p:nvSpPr>
        <p:spPr>
          <a:xfrm>
            <a:off x="508000" y="4203700"/>
            <a:ext cx="11176000" cy="6350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Rounded Rectangle 24"/>
          <p:cNvSpPr/>
          <p:nvPr/>
        </p:nvSpPr>
        <p:spPr>
          <a:xfrm>
            <a:off x="647700" y="4343400"/>
            <a:ext cx="4572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TextBox 25"/>
          <p:cNvSpPr txBox="1"/>
          <p:nvPr/>
        </p:nvSpPr>
        <p:spPr>
          <a:xfrm>
            <a:off x="762000" y="4406900"/>
            <a:ext cx="2286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04</a:t>
            </a:r>
          </a:p>
        </p:txBody>
      </p:sp>
      <p:sp>
        <p:nvSpPr>
          <p:cNvPr id="27" name="TextBox 26"/>
          <p:cNvSpPr txBox="1"/>
          <p:nvPr/>
        </p:nvSpPr>
        <p:spPr>
          <a:xfrm>
            <a:off x="1308100" y="4381500"/>
            <a:ext cx="35814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Frontend &amp; trải nghiệm</a:t>
            </a:r>
          </a:p>
        </p:txBody>
      </p:sp>
      <p:sp>
        <p:nvSpPr>
          <p:cNvPr id="28" name="TextBox 27"/>
          <p:cNvSpPr txBox="1"/>
          <p:nvPr/>
        </p:nvSpPr>
        <p:spPr>
          <a:xfrm>
            <a:off x="5054600" y="4381500"/>
            <a:ext cx="6324600" cy="3683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Màn hình chức năng, mobile, animation</a:t>
            </a:r>
          </a:p>
        </p:txBody>
      </p:sp>
      <p:sp>
        <p:nvSpPr>
          <p:cNvPr id="29" name="Rounded Rectangle 28"/>
          <p:cNvSpPr/>
          <p:nvPr/>
        </p:nvSpPr>
        <p:spPr>
          <a:xfrm>
            <a:off x="508000" y="4940300"/>
            <a:ext cx="11176000" cy="6350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Rounded Rectangle 29"/>
          <p:cNvSpPr/>
          <p:nvPr/>
        </p:nvSpPr>
        <p:spPr>
          <a:xfrm>
            <a:off x="647700" y="5080000"/>
            <a:ext cx="457200" cy="3429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762000" y="5143500"/>
            <a:ext cx="2286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FFFFFF"/>
                </a:solidFill>
                <a:latin typeface="Arial"/>
              </a:defRPr>
            </a:pPr>
            <a:r>
              <a:rPr>
                <a:solidFill/>
              </a:rPr>
              <a:t>05</a:t>
            </a:r>
          </a:p>
        </p:txBody>
      </p:sp>
      <p:sp>
        <p:nvSpPr>
          <p:cNvPr id="32" name="TextBox 31"/>
          <p:cNvSpPr txBox="1"/>
          <p:nvPr/>
        </p:nvSpPr>
        <p:spPr>
          <a:xfrm>
            <a:off x="1308100" y="5118100"/>
            <a:ext cx="3581400" cy="381000"/>
          </a:xfrm>
          <a:prstGeom prst="rect">
            <a:avLst/>
          </a:prstGeom>
          <a:noFill/>
          <a:ln>
            <a:solidFill/>
          </a:ln>
        </p:spPr>
        <p:txBody>
          <a:bodyPr wrap="none" lIns="0" rIns="0" tIns="0" bIns="0">
            <a:spAutoFit/>
          </a:bodyPr>
          <a:lstStyle/>
          <a:p>
            <a:pPr algn="l">
              <a:lnSpc>
                <a:spcPts val="2091"/>
              </a:lnSpc>
              <a:spcBef>
                <a:spcPts val="0"/>
              </a:spcBef>
              <a:spcAft>
                <a:spcPts val="0"/>
              </a:spcAft>
              <a:defRPr sz="1700" b="1">
                <a:solidFill>
                  <a:srgbClr val="222820"/>
                </a:solidFill>
                <a:latin typeface="Arial"/>
              </a:defRPr>
            </a:pPr>
            <a:r>
              <a:rPr>
                <a:solidFill/>
              </a:rPr>
              <a:t>Kiểm thử &amp; bàn giao</a:t>
            </a:r>
          </a:p>
        </p:txBody>
      </p:sp>
      <p:sp>
        <p:nvSpPr>
          <p:cNvPr id="33" name="TextBox 32"/>
          <p:cNvSpPr txBox="1"/>
          <p:nvPr/>
        </p:nvSpPr>
        <p:spPr>
          <a:xfrm>
            <a:off x="5054600" y="5118100"/>
            <a:ext cx="6324600" cy="368300"/>
          </a:xfrm>
          <a:prstGeom prst="rect">
            <a:avLst/>
          </a:prstGeom>
          <a:noFill/>
          <a:ln>
            <a:solidFill/>
          </a:ln>
        </p:spPr>
        <p:txBody>
          <a:bodyPr wrap="none" lIns="0" rIns="0" tIns="0" bIns="0">
            <a:spAutoFit/>
          </a:bodyPr>
          <a:lstStyle/>
          <a:p>
            <a:pPr algn="l">
              <a:lnSpc>
                <a:spcPts val="1845"/>
              </a:lnSpc>
              <a:spcBef>
                <a:spcPts val="0"/>
              </a:spcBef>
              <a:spcAft>
                <a:spcPts val="0"/>
              </a:spcAft>
              <a:defRPr sz="1500" b="0">
                <a:solidFill>
                  <a:srgbClr val="596153"/>
                </a:solidFill>
                <a:latin typeface="Arial"/>
              </a:defRPr>
            </a:pPr>
            <a:r>
              <a:rPr>
                <a:solidFill/>
              </a:rPr>
              <a:t>Test, production build, tài liệu, GitHub</a:t>
            </a:r>
          </a:p>
        </p:txBody>
      </p:sp>
      <p:sp>
        <p:nvSpPr>
          <p:cNvPr id="34" name="Rounded Rectangle 33"/>
          <p:cNvSpPr/>
          <p:nvPr/>
        </p:nvSpPr>
        <p:spPr>
          <a:xfrm>
            <a:off x="508000" y="5880100"/>
            <a:ext cx="11176000" cy="3810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698500" y="5969000"/>
            <a:ext cx="10795000" cy="266700"/>
          </a:xfrm>
          <a:prstGeom prst="rect">
            <a:avLst/>
          </a:prstGeom>
          <a:noFill/>
          <a:ln>
            <a:solidFill/>
          </a:ln>
        </p:spPr>
        <p:txBody>
          <a:bodyPr wrap="none" lIns="0" rIns="0" tIns="0" bIns="0">
            <a:spAutoFit/>
          </a:bodyPr>
          <a:lstStyle/>
          <a:p>
            <a:pPr algn="l">
              <a:lnSpc>
                <a:spcPts val="1722"/>
              </a:lnSpc>
              <a:spcBef>
                <a:spcPts val="0"/>
              </a:spcBef>
              <a:spcAft>
                <a:spcPts val="0"/>
              </a:spcAft>
              <a:defRPr sz="1400" b="1">
                <a:solidFill>
                  <a:srgbClr val="345D3E"/>
                </a:solidFill>
                <a:latin typeface="Arial"/>
              </a:defRPr>
            </a:pPr>
            <a:r>
              <a:rPr>
                <a:solidFill/>
              </a:rPr>
              <a:t>Đã hoàn tất phạm vi MVP • Triển khai dịch vụ công khai: bước tiếp theo</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7F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6840C6"/>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222820"/>
                </a:solidFill>
                <a:latin typeface="Arial"/>
              </a:defRPr>
            </a:pPr>
            <a:r>
              <a:rPr>
                <a:solidFill/>
              </a:rPr>
              <a:t>Từ MVP đến sản phẩm có thể vận hành lâu dài</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596153"/>
                </a:solidFill>
                <a:latin typeface="Arial"/>
              </a:defRPr>
            </a:pPr>
            <a:r>
              <a:rPr>
                <a:solidFill/>
              </a:rPr>
              <a:t>Hướng phát triển — các mục dưới đây chưa thuộc phần đã hoàn thành</a:t>
            </a:r>
          </a:p>
        </p:txBody>
      </p:sp>
      <p:cxnSp>
        <p:nvCxnSpPr>
          <p:cNvPr id="6" name="Connector 5"/>
          <p:cNvCxnSpPr/>
          <p:nvPr/>
        </p:nvCxnSpPr>
        <p:spPr>
          <a:xfrm>
            <a:off x="508000" y="6413500"/>
            <a:ext cx="11176000" cy="0"/>
          </a:xfrm>
          <a:prstGeom prst="line">
            <a:avLst/>
          </a:prstGeom>
          <a:ln w="7620">
            <a:solidFill>
              <a:srgbClr val="DCE1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596153"/>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6840C6"/>
                </a:solidFill>
                <a:latin typeface="Arial"/>
              </a:defRPr>
            </a:pPr>
            <a:r>
              <a:rPr>
                <a:solidFill/>
              </a:rPr>
              <a:t>14 / 15</a:t>
            </a:r>
          </a:p>
        </p:txBody>
      </p:sp>
      <p:sp>
        <p:nvSpPr>
          <p:cNvPr id="9" name="Rounded Rectangle 8"/>
          <p:cNvSpPr/>
          <p:nvPr/>
        </p:nvSpPr>
        <p:spPr>
          <a:xfrm>
            <a:off x="508000" y="2146300"/>
            <a:ext cx="3505200" cy="3225800"/>
          </a:xfrm>
          <a:prstGeom prst="roundRect">
            <a:avLst>
              <a:gd name="adj" fmla="val 12000"/>
            </a:avLst>
          </a:prstGeom>
          <a:solidFill>
            <a:srgbClr val="EDE6FC"/>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762000" y="24003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876300" y="24638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01</a:t>
            </a:r>
          </a:p>
        </p:txBody>
      </p:sp>
      <p:sp>
        <p:nvSpPr>
          <p:cNvPr id="12" name="TextBox 11"/>
          <p:cNvSpPr txBox="1"/>
          <p:nvPr/>
        </p:nvSpPr>
        <p:spPr>
          <a:xfrm>
            <a:off x="762000" y="29718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Vận hành thực tế</a:t>
            </a:r>
          </a:p>
        </p:txBody>
      </p:sp>
      <p:sp>
        <p:nvSpPr>
          <p:cNvPr id="13" name="TextBox 12"/>
          <p:cNvSpPr txBox="1"/>
          <p:nvPr/>
        </p:nvSpPr>
        <p:spPr>
          <a:xfrm>
            <a:off x="762000" y="37973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Triển khai HTTPS, cấu hình bí</a:t>
            </a:r>
          </a:p>
          <a:p>
            <a:pPr algn="l">
              <a:lnSpc>
                <a:spcPts val="1968"/>
              </a:lnSpc>
              <a:spcBef>
                <a:spcPts val="0"/>
              </a:spcBef>
              <a:spcAft>
                <a:spcPts val="0"/>
              </a:spcAft>
              <a:defRPr sz="1600" b="0">
                <a:solidFill>
                  <a:srgbClr val="596153"/>
                </a:solidFill>
                <a:latin typeface="Arial"/>
              </a:defRPr>
            </a:pPr>
            <a:r>
              <a:rPr>
                <a:solidFill/>
              </a:rPr>
              <a:t>mật, sao lưu và kiểm tra khôi</a:t>
            </a:r>
          </a:p>
          <a:p>
            <a:pPr algn="l">
              <a:lnSpc>
                <a:spcPts val="1968"/>
              </a:lnSpc>
              <a:spcBef>
                <a:spcPts val="0"/>
              </a:spcBef>
              <a:spcAft>
                <a:spcPts val="0"/>
              </a:spcAft>
              <a:defRPr sz="1600" b="0">
                <a:solidFill>
                  <a:srgbClr val="596153"/>
                </a:solidFill>
                <a:latin typeface="Arial"/>
              </a:defRPr>
            </a:pPr>
            <a:r>
              <a:rPr>
                <a:solidFill/>
              </a:rPr>
              <a:t>phục dữ liệu.</a:t>
            </a:r>
          </a:p>
        </p:txBody>
      </p:sp>
      <p:sp>
        <p:nvSpPr>
          <p:cNvPr id="14" name="Rounded Rectangle 13"/>
          <p:cNvSpPr/>
          <p:nvPr/>
        </p:nvSpPr>
        <p:spPr>
          <a:xfrm>
            <a:off x="4343400" y="2146300"/>
            <a:ext cx="3505200" cy="32258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Rounded Rectangle 14"/>
          <p:cNvSpPr/>
          <p:nvPr/>
        </p:nvSpPr>
        <p:spPr>
          <a:xfrm>
            <a:off x="4597400" y="24003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4711700" y="24638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02</a:t>
            </a:r>
          </a:p>
        </p:txBody>
      </p:sp>
      <p:sp>
        <p:nvSpPr>
          <p:cNvPr id="17" name="TextBox 16"/>
          <p:cNvSpPr txBox="1"/>
          <p:nvPr/>
        </p:nvSpPr>
        <p:spPr>
          <a:xfrm>
            <a:off x="4597400" y="29718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Hoàn thiện trải nghiệm</a:t>
            </a:r>
          </a:p>
        </p:txBody>
      </p:sp>
      <p:sp>
        <p:nvSpPr>
          <p:cNvPr id="18" name="TextBox 17"/>
          <p:cNvSpPr txBox="1"/>
          <p:nvPr/>
        </p:nvSpPr>
        <p:spPr>
          <a:xfrm>
            <a:off x="4597400" y="37973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Xác minh email, quên mật khẩu</a:t>
            </a:r>
          </a:p>
          <a:p>
            <a:pPr algn="l">
              <a:lnSpc>
                <a:spcPts val="1968"/>
              </a:lnSpc>
              <a:spcBef>
                <a:spcPts val="0"/>
              </a:spcBef>
              <a:spcAft>
                <a:spcPts val="0"/>
              </a:spcAft>
              <a:defRPr sz="1600" b="0">
                <a:solidFill>
                  <a:srgbClr val="596153"/>
                </a:solidFill>
                <a:latin typeface="Arial"/>
              </a:defRPr>
            </a:pPr>
            <a:r>
              <a:rPr>
                <a:solidFill/>
              </a:rPr>
              <a:t>và giao diện xem lịch sử ngân</a:t>
            </a:r>
          </a:p>
          <a:p>
            <a:pPr algn="l">
              <a:lnSpc>
                <a:spcPts val="1968"/>
              </a:lnSpc>
              <a:spcBef>
                <a:spcPts val="0"/>
              </a:spcBef>
              <a:spcAft>
                <a:spcPts val="0"/>
              </a:spcAft>
              <a:defRPr sz="1600" b="0">
                <a:solidFill>
                  <a:srgbClr val="596153"/>
                </a:solidFill>
                <a:latin typeface="Arial"/>
              </a:defRPr>
            </a:pPr>
            <a:r>
              <a:rPr>
                <a:solidFill/>
              </a:rPr>
              <a:t>sách.</a:t>
            </a:r>
          </a:p>
        </p:txBody>
      </p:sp>
      <p:sp>
        <p:nvSpPr>
          <p:cNvPr id="19" name="Rounded Rectangle 18"/>
          <p:cNvSpPr/>
          <p:nvPr/>
        </p:nvSpPr>
        <p:spPr>
          <a:xfrm>
            <a:off x="8178800" y="2146300"/>
            <a:ext cx="3505200" cy="3225800"/>
          </a:xfrm>
          <a:prstGeom prst="roundRect">
            <a:avLst>
              <a:gd name="adj" fmla="val 12000"/>
            </a:avLst>
          </a:prstGeom>
          <a:solidFill>
            <a:srgbClr val="FFFF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ounded Rectangle 19"/>
          <p:cNvSpPr/>
          <p:nvPr/>
        </p:nvSpPr>
        <p:spPr>
          <a:xfrm>
            <a:off x="8432800" y="2400300"/>
            <a:ext cx="5334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8547100" y="2463800"/>
            <a:ext cx="3048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03</a:t>
            </a:r>
          </a:p>
        </p:txBody>
      </p:sp>
      <p:sp>
        <p:nvSpPr>
          <p:cNvPr id="22" name="TextBox 21"/>
          <p:cNvSpPr txBox="1"/>
          <p:nvPr/>
        </p:nvSpPr>
        <p:spPr>
          <a:xfrm>
            <a:off x="8432800" y="2971800"/>
            <a:ext cx="2997200" cy="723900"/>
          </a:xfrm>
          <a:prstGeom prst="rect">
            <a:avLst/>
          </a:prstGeom>
          <a:noFill/>
          <a:ln>
            <a:solidFill/>
          </a:ln>
        </p:spPr>
        <p:txBody>
          <a:bodyPr wrap="none" lIns="0" rIns="0" tIns="0" bIns="0">
            <a:spAutoFit/>
          </a:bodyPr>
          <a:lstStyle/>
          <a:p>
            <a:pPr algn="l">
              <a:lnSpc>
                <a:spcPts val="2583"/>
              </a:lnSpc>
              <a:spcBef>
                <a:spcPts val="0"/>
              </a:spcBef>
              <a:spcAft>
                <a:spcPts val="0"/>
              </a:spcAft>
              <a:defRPr sz="2100" b="1">
                <a:solidFill>
                  <a:srgbClr val="222820"/>
                </a:solidFill>
                <a:latin typeface="Arial"/>
              </a:defRPr>
            </a:pPr>
            <a:r>
              <a:rPr>
                <a:solidFill/>
              </a:rPr>
              <a:t>Mở rộng có kiểm</a:t>
            </a:r>
          </a:p>
          <a:p>
            <a:pPr algn="l">
              <a:lnSpc>
                <a:spcPts val="2583"/>
              </a:lnSpc>
              <a:spcBef>
                <a:spcPts val="0"/>
              </a:spcBef>
              <a:spcAft>
                <a:spcPts val="0"/>
              </a:spcAft>
              <a:defRPr sz="2100" b="1">
                <a:solidFill>
                  <a:srgbClr val="222820"/>
                </a:solidFill>
                <a:latin typeface="Arial"/>
              </a:defRPr>
            </a:pPr>
            <a:r>
              <a:rPr>
                <a:solidFill/>
              </a:rPr>
              <a:t>chứng</a:t>
            </a:r>
          </a:p>
        </p:txBody>
      </p:sp>
      <p:sp>
        <p:nvSpPr>
          <p:cNvPr id="23" name="TextBox 22"/>
          <p:cNvSpPr txBox="1"/>
          <p:nvPr/>
        </p:nvSpPr>
        <p:spPr>
          <a:xfrm>
            <a:off x="8432800" y="3797300"/>
            <a:ext cx="2997200" cy="1447800"/>
          </a:xfrm>
          <a:prstGeom prst="rect">
            <a:avLst/>
          </a:prstGeom>
          <a:noFill/>
          <a:ln>
            <a:solidFill/>
          </a:ln>
        </p:spPr>
        <p:txBody>
          <a:bodyPr wrap="none" lIns="0" rIns="0" tIns="0" bIns="0">
            <a:spAutoFit/>
          </a:bodyPr>
          <a:lstStyle/>
          <a:p>
            <a:pPr algn="l">
              <a:lnSpc>
                <a:spcPts val="1968"/>
              </a:lnSpc>
              <a:spcBef>
                <a:spcPts val="0"/>
              </a:spcBef>
              <a:spcAft>
                <a:spcPts val="0"/>
              </a:spcAft>
              <a:defRPr sz="1600" b="0">
                <a:solidFill>
                  <a:srgbClr val="596153"/>
                </a:solidFill>
                <a:latin typeface="Arial"/>
              </a:defRPr>
            </a:pPr>
            <a:r>
              <a:rPr>
                <a:solidFill/>
              </a:rPr>
              <a:t>Khảo sát nhu cầu tích hợp ngân</a:t>
            </a:r>
          </a:p>
          <a:p>
            <a:pPr algn="l">
              <a:lnSpc>
                <a:spcPts val="1968"/>
              </a:lnSpc>
              <a:spcBef>
                <a:spcPts val="0"/>
              </a:spcBef>
              <a:spcAft>
                <a:spcPts val="0"/>
              </a:spcAft>
              <a:defRPr sz="1600" b="0">
                <a:solidFill>
                  <a:srgbClr val="596153"/>
                </a:solidFill>
                <a:latin typeface="Arial"/>
              </a:defRPr>
            </a:pPr>
            <a:r>
              <a:rPr>
                <a:solidFill/>
              </a:rPr>
              <a:t>hàng, nhiều tiền tệ và dự báo chi</a:t>
            </a:r>
          </a:p>
          <a:p>
            <a:pPr algn="l">
              <a:lnSpc>
                <a:spcPts val="1968"/>
              </a:lnSpc>
              <a:spcBef>
                <a:spcPts val="0"/>
              </a:spcBef>
              <a:spcAft>
                <a:spcPts val="0"/>
              </a:spcAft>
              <a:defRPr sz="1600" b="0">
                <a:solidFill>
                  <a:srgbClr val="596153"/>
                </a:solidFill>
                <a:latin typeface="Arial"/>
              </a:defRPr>
            </a:pPr>
            <a:r>
              <a:rPr>
                <a:solidFill/>
              </a:rPr>
              <a:t>tiêu.</a:t>
            </a:r>
          </a:p>
        </p:txBody>
      </p:sp>
      <p:sp>
        <p:nvSpPr>
          <p:cNvPr id="24" name="Rounded Rectangle 23"/>
          <p:cNvSpPr/>
          <p:nvPr/>
        </p:nvSpPr>
        <p:spPr>
          <a:xfrm>
            <a:off x="508000" y="5613400"/>
            <a:ext cx="11176000" cy="5588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723900" y="5765800"/>
            <a:ext cx="10744200" cy="355600"/>
          </a:xfrm>
          <a:prstGeom prst="rect">
            <a:avLst/>
          </a:prstGeom>
          <a:noFill/>
          <a:ln>
            <a:solidFill/>
          </a:ln>
        </p:spPr>
        <p:txBody>
          <a:bodyPr wrap="none" lIns="0" rIns="0" tIns="0" bIns="0">
            <a:spAutoFit/>
          </a:bodyPr>
          <a:lstStyle/>
          <a:p>
            <a:pPr algn="l">
              <a:lnSpc>
                <a:spcPts val="1968"/>
              </a:lnSpc>
              <a:spcBef>
                <a:spcPts val="0"/>
              </a:spcBef>
              <a:spcAft>
                <a:spcPts val="0"/>
              </a:spcAft>
              <a:defRPr sz="1600" b="1">
                <a:solidFill>
                  <a:srgbClr val="345D3E"/>
                </a:solidFill>
                <a:latin typeface="Arial"/>
              </a:defRPr>
            </a:pPr>
            <a:r>
              <a:rPr>
                <a:solidFill/>
              </a:rPr>
              <a:t>Rủi ro cần quản lý: dữ liệu nhập thiếu, thu nhập biến động và mở rộng phạm vi.</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282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 name="TextBox 2"/>
          <p:cNvSpPr txBox="1"/>
          <p:nvPr/>
        </p:nvSpPr>
        <p:spPr>
          <a:xfrm>
            <a:off x="508000" y="304800"/>
            <a:ext cx="10541000" cy="279400"/>
          </a:xfrm>
          <a:prstGeom prst="rect">
            <a:avLst/>
          </a:prstGeom>
          <a:noFill/>
          <a:ln>
            <a:solidFill/>
          </a:ln>
        </p:spPr>
        <p:txBody>
          <a:bodyPr wrap="none" lIns="0" rIns="0" tIns="0" bIns="0">
            <a:spAutoFit/>
          </a:bodyPr>
          <a:lstStyle/>
          <a:p>
            <a:pPr algn="l">
              <a:lnSpc>
                <a:spcPts val="1230"/>
              </a:lnSpc>
              <a:spcBef>
                <a:spcPts val="0"/>
              </a:spcBef>
              <a:spcAft>
                <a:spcPts val="0"/>
              </a:spcAft>
              <a:defRPr sz="1000" b="1">
                <a:solidFill>
                  <a:srgbClr val="D6EF8B"/>
                </a:solidFill>
                <a:latin typeface="Arial"/>
              </a:defRPr>
            </a:pPr>
            <a:r>
              <a:rPr>
                <a:solidFill/>
              </a:rPr>
              <a:t>FINORA / BÁO CÁO ĐỒ ÁN</a:t>
            </a:r>
          </a:p>
        </p:txBody>
      </p:sp>
      <p:sp>
        <p:nvSpPr>
          <p:cNvPr id="4" name="TextBox 3"/>
          <p:cNvSpPr txBox="1"/>
          <p:nvPr/>
        </p:nvSpPr>
        <p:spPr>
          <a:xfrm>
            <a:off x="508000" y="762000"/>
            <a:ext cx="11176000" cy="635000"/>
          </a:xfrm>
          <a:prstGeom prst="rect">
            <a:avLst/>
          </a:prstGeom>
          <a:noFill/>
          <a:ln>
            <a:solidFill/>
          </a:ln>
        </p:spPr>
        <p:txBody>
          <a:bodyPr wrap="none" lIns="0" rIns="0" tIns="0" bIns="0">
            <a:spAutoFit/>
          </a:bodyPr>
          <a:lstStyle/>
          <a:p>
            <a:pPr algn="l">
              <a:lnSpc>
                <a:spcPts val="3690"/>
              </a:lnSpc>
              <a:spcBef>
                <a:spcPts val="0"/>
              </a:spcBef>
              <a:spcAft>
                <a:spcPts val="0"/>
              </a:spcAft>
              <a:defRPr sz="3000" b="1">
                <a:solidFill>
                  <a:srgbClr val="FFFFFF"/>
                </a:solidFill>
                <a:latin typeface="Arial"/>
              </a:defRPr>
            </a:pPr>
            <a:r>
              <a:rPr>
                <a:solidFill/>
              </a:rPr>
              <a:t>Sẵn sàng demo. Sẵn sàng thảo luận.</a:t>
            </a:r>
          </a:p>
        </p:txBody>
      </p:sp>
      <p:sp>
        <p:nvSpPr>
          <p:cNvPr id="5" name="TextBox 4"/>
          <p:cNvSpPr txBox="1"/>
          <p:nvPr/>
        </p:nvSpPr>
        <p:spPr>
          <a:xfrm>
            <a:off x="508000" y="1371600"/>
            <a:ext cx="110490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Một vòng trải nghiệm từ giao dịch đến ngân sách</a:t>
            </a:r>
          </a:p>
        </p:txBody>
      </p:sp>
      <p:cxnSp>
        <p:nvCxnSpPr>
          <p:cNvPr id="6" name="Connector 5"/>
          <p:cNvCxnSpPr/>
          <p:nvPr/>
        </p:nvCxnSpPr>
        <p:spPr>
          <a:xfrm>
            <a:off x="508000" y="6413500"/>
            <a:ext cx="11176000" cy="0"/>
          </a:xfrm>
          <a:prstGeom prst="line">
            <a:avLst/>
          </a:prstGeom>
          <a:ln w="7620">
            <a:solidFill>
              <a:srgbClr val="59615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8000" y="6553200"/>
            <a:ext cx="9525000" cy="203200"/>
          </a:xfrm>
          <a:prstGeom prst="rect">
            <a:avLst/>
          </a:prstGeom>
          <a:noFill/>
          <a:ln>
            <a:solidFill/>
          </a:ln>
        </p:spPr>
        <p:txBody>
          <a:bodyPr wrap="none" lIns="0" rIns="0" tIns="0" bIns="0">
            <a:spAutoFit/>
          </a:bodyPr>
          <a:lstStyle/>
          <a:p>
            <a:pPr algn="l">
              <a:lnSpc>
                <a:spcPts val="1107"/>
              </a:lnSpc>
              <a:spcBef>
                <a:spcPts val="0"/>
              </a:spcBef>
              <a:spcAft>
                <a:spcPts val="0"/>
              </a:spcAft>
              <a:defRPr sz="900" b="0">
                <a:solidFill>
                  <a:srgbClr val="EDE6FC"/>
                </a:solidFill>
                <a:latin typeface="Arial"/>
              </a:defRPr>
            </a:pPr>
            <a:r>
              <a:rPr>
                <a:solidFill/>
              </a:rPr>
              <a:t>FINORA / TÀI CHÍNH TRONG TẦM TAY</a:t>
            </a:r>
          </a:p>
        </p:txBody>
      </p:sp>
      <p:sp>
        <p:nvSpPr>
          <p:cNvPr id="8" name="TextBox 7"/>
          <p:cNvSpPr txBox="1"/>
          <p:nvPr/>
        </p:nvSpPr>
        <p:spPr>
          <a:xfrm>
            <a:off x="10668000" y="6527800"/>
            <a:ext cx="1016000" cy="254000"/>
          </a:xfrm>
          <a:prstGeom prst="rect">
            <a:avLst/>
          </a:prstGeom>
          <a:noFill/>
          <a:ln>
            <a:solidFill/>
          </a:ln>
        </p:spPr>
        <p:txBody>
          <a:bodyPr wrap="none" lIns="0" rIns="0" tIns="0" bIns="0">
            <a:spAutoFit/>
          </a:bodyPr>
          <a:lstStyle/>
          <a:p>
            <a:pPr algn="r">
              <a:lnSpc>
                <a:spcPts val="1230"/>
              </a:lnSpc>
              <a:spcBef>
                <a:spcPts val="0"/>
              </a:spcBef>
              <a:spcAft>
                <a:spcPts val="0"/>
              </a:spcAft>
              <a:defRPr sz="1000" b="1">
                <a:solidFill>
                  <a:srgbClr val="D6EF8B"/>
                </a:solidFill>
                <a:latin typeface="Arial"/>
              </a:defRPr>
            </a:pPr>
            <a:r>
              <a:rPr>
                <a:solidFill/>
              </a:rPr>
              <a:t>15 / 15</a:t>
            </a:r>
          </a:p>
        </p:txBody>
      </p:sp>
      <p:sp>
        <p:nvSpPr>
          <p:cNvPr id="9" name="Rounded Rectangle 8"/>
          <p:cNvSpPr/>
          <p:nvPr/>
        </p:nvSpPr>
        <p:spPr>
          <a:xfrm>
            <a:off x="508000" y="2298700"/>
            <a:ext cx="2565400" cy="2159000"/>
          </a:xfrm>
          <a:prstGeom prst="roundRect">
            <a:avLst>
              <a:gd name="adj" fmla="val 12000"/>
            </a:avLst>
          </a:prstGeom>
          <a:solidFill>
            <a:srgbClr val="35402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Rounded Rectangle 9"/>
          <p:cNvSpPr/>
          <p:nvPr/>
        </p:nvSpPr>
        <p:spPr>
          <a:xfrm>
            <a:off x="698500" y="2514600"/>
            <a:ext cx="4953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TextBox 10"/>
          <p:cNvSpPr txBox="1"/>
          <p:nvPr/>
        </p:nvSpPr>
        <p:spPr>
          <a:xfrm>
            <a:off x="812800" y="2578100"/>
            <a:ext cx="2667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01</a:t>
            </a:r>
          </a:p>
        </p:txBody>
      </p:sp>
      <p:sp>
        <p:nvSpPr>
          <p:cNvPr id="12" name="TextBox 11"/>
          <p:cNvSpPr txBox="1"/>
          <p:nvPr/>
        </p:nvSpPr>
        <p:spPr>
          <a:xfrm>
            <a:off x="698500" y="3086100"/>
            <a:ext cx="2209800" cy="6604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FFFFFF"/>
                </a:solidFill>
                <a:latin typeface="Arial"/>
              </a:defRPr>
            </a:pPr>
            <a:r>
              <a:rPr>
                <a:solidFill/>
              </a:rPr>
              <a:t>Mở dữ liệu mẫu</a:t>
            </a:r>
          </a:p>
        </p:txBody>
      </p:sp>
      <p:sp>
        <p:nvSpPr>
          <p:cNvPr id="13" name="TextBox 12"/>
          <p:cNvSpPr txBox="1"/>
          <p:nvPr/>
        </p:nvSpPr>
        <p:spPr>
          <a:xfrm>
            <a:off x="698500" y="3848100"/>
            <a:ext cx="22098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Quan sát dashboard và ví</a:t>
            </a:r>
          </a:p>
        </p:txBody>
      </p:sp>
      <p:sp>
        <p:nvSpPr>
          <p:cNvPr id="14" name="Rounded Rectangle 13"/>
          <p:cNvSpPr/>
          <p:nvPr/>
        </p:nvSpPr>
        <p:spPr>
          <a:xfrm>
            <a:off x="3378200" y="2298700"/>
            <a:ext cx="2565400" cy="2159000"/>
          </a:xfrm>
          <a:prstGeom prst="roundRect">
            <a:avLst>
              <a:gd name="adj" fmla="val 12000"/>
            </a:avLst>
          </a:prstGeom>
          <a:solidFill>
            <a:srgbClr val="35402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Rounded Rectangle 14"/>
          <p:cNvSpPr/>
          <p:nvPr/>
        </p:nvSpPr>
        <p:spPr>
          <a:xfrm>
            <a:off x="3568700" y="2514600"/>
            <a:ext cx="4953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3683000" y="2578100"/>
            <a:ext cx="2667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02</a:t>
            </a:r>
          </a:p>
        </p:txBody>
      </p:sp>
      <p:sp>
        <p:nvSpPr>
          <p:cNvPr id="17" name="TextBox 16"/>
          <p:cNvSpPr txBox="1"/>
          <p:nvPr/>
        </p:nvSpPr>
        <p:spPr>
          <a:xfrm>
            <a:off x="3568700" y="3086100"/>
            <a:ext cx="2209800" cy="6604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FFFFFF"/>
                </a:solidFill>
                <a:latin typeface="Arial"/>
              </a:defRPr>
            </a:pPr>
            <a:r>
              <a:rPr>
                <a:solidFill/>
              </a:rPr>
              <a:t>Thêm một khoản</a:t>
            </a:r>
          </a:p>
          <a:p>
            <a:pPr algn="l">
              <a:lnSpc>
                <a:spcPts val="2337"/>
              </a:lnSpc>
              <a:spcBef>
                <a:spcPts val="0"/>
              </a:spcBef>
              <a:spcAft>
                <a:spcPts val="0"/>
              </a:spcAft>
              <a:defRPr sz="1900" b="1">
                <a:solidFill>
                  <a:srgbClr val="FFFFFF"/>
                </a:solidFill>
                <a:latin typeface="Arial"/>
              </a:defRPr>
            </a:pPr>
            <a:r>
              <a:rPr>
                <a:solidFill/>
              </a:rPr>
              <a:t>chi</a:t>
            </a:r>
          </a:p>
        </p:txBody>
      </p:sp>
      <p:sp>
        <p:nvSpPr>
          <p:cNvPr id="18" name="TextBox 17"/>
          <p:cNvSpPr txBox="1"/>
          <p:nvPr/>
        </p:nvSpPr>
        <p:spPr>
          <a:xfrm>
            <a:off x="3568700" y="3848100"/>
            <a:ext cx="22098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Kiểm tra số dư và báo cáo</a:t>
            </a:r>
          </a:p>
        </p:txBody>
      </p:sp>
      <p:sp>
        <p:nvSpPr>
          <p:cNvPr id="19" name="Rounded Rectangle 18"/>
          <p:cNvSpPr/>
          <p:nvPr/>
        </p:nvSpPr>
        <p:spPr>
          <a:xfrm>
            <a:off x="6248400" y="2298700"/>
            <a:ext cx="2565400" cy="2159000"/>
          </a:xfrm>
          <a:prstGeom prst="roundRect">
            <a:avLst>
              <a:gd name="adj" fmla="val 12000"/>
            </a:avLst>
          </a:prstGeom>
          <a:solidFill>
            <a:srgbClr val="6840C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Rounded Rectangle 19"/>
          <p:cNvSpPr/>
          <p:nvPr/>
        </p:nvSpPr>
        <p:spPr>
          <a:xfrm>
            <a:off x="6438900" y="2514600"/>
            <a:ext cx="4953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TextBox 20"/>
          <p:cNvSpPr txBox="1"/>
          <p:nvPr/>
        </p:nvSpPr>
        <p:spPr>
          <a:xfrm>
            <a:off x="6553200" y="2578100"/>
            <a:ext cx="2667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03</a:t>
            </a:r>
          </a:p>
        </p:txBody>
      </p:sp>
      <p:sp>
        <p:nvSpPr>
          <p:cNvPr id="22" name="TextBox 21"/>
          <p:cNvSpPr txBox="1"/>
          <p:nvPr/>
        </p:nvSpPr>
        <p:spPr>
          <a:xfrm>
            <a:off x="6438900" y="3086100"/>
            <a:ext cx="2209800" cy="6604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FFFFFF"/>
                </a:solidFill>
                <a:latin typeface="Arial"/>
              </a:defRPr>
            </a:pPr>
            <a:r>
              <a:rPr>
                <a:solidFill/>
              </a:rPr>
              <a:t>Áp dụng ngân</a:t>
            </a:r>
          </a:p>
          <a:p>
            <a:pPr algn="l">
              <a:lnSpc>
                <a:spcPts val="2337"/>
              </a:lnSpc>
              <a:spcBef>
                <a:spcPts val="0"/>
              </a:spcBef>
              <a:spcAft>
                <a:spcPts val="0"/>
              </a:spcAft>
              <a:defRPr sz="1900" b="1">
                <a:solidFill>
                  <a:srgbClr val="FFFFFF"/>
                </a:solidFill>
                <a:latin typeface="Arial"/>
              </a:defRPr>
            </a:pPr>
            <a:r>
              <a:rPr>
                <a:solidFill/>
              </a:rPr>
              <a:t>sách</a:t>
            </a:r>
          </a:p>
        </p:txBody>
      </p:sp>
      <p:sp>
        <p:nvSpPr>
          <p:cNvPr id="23" name="TextBox 22"/>
          <p:cNvSpPr txBox="1"/>
          <p:nvPr/>
        </p:nvSpPr>
        <p:spPr>
          <a:xfrm>
            <a:off x="6438900" y="3848100"/>
            <a:ext cx="22098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Xem trước → xác nhận</a:t>
            </a:r>
          </a:p>
        </p:txBody>
      </p:sp>
      <p:sp>
        <p:nvSpPr>
          <p:cNvPr id="24" name="Rounded Rectangle 23"/>
          <p:cNvSpPr/>
          <p:nvPr/>
        </p:nvSpPr>
        <p:spPr>
          <a:xfrm>
            <a:off x="9118600" y="2298700"/>
            <a:ext cx="2565400" cy="2159000"/>
          </a:xfrm>
          <a:prstGeom prst="roundRect">
            <a:avLst>
              <a:gd name="adj" fmla="val 12000"/>
            </a:avLst>
          </a:prstGeom>
          <a:solidFill>
            <a:srgbClr val="35402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Rounded Rectangle 24"/>
          <p:cNvSpPr/>
          <p:nvPr/>
        </p:nvSpPr>
        <p:spPr>
          <a:xfrm>
            <a:off x="9309100" y="2514600"/>
            <a:ext cx="495300" cy="342900"/>
          </a:xfrm>
          <a:prstGeom prst="roundRect">
            <a:avLst>
              <a:gd name="adj" fmla="val 12000"/>
            </a:avLst>
          </a:prstGeom>
          <a:solidFill>
            <a:srgbClr val="D6EF8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TextBox 25"/>
          <p:cNvSpPr txBox="1"/>
          <p:nvPr/>
        </p:nvSpPr>
        <p:spPr>
          <a:xfrm>
            <a:off x="9423400" y="2578100"/>
            <a:ext cx="266700" cy="241300"/>
          </a:xfrm>
          <a:prstGeom prst="rect">
            <a:avLst/>
          </a:prstGeom>
          <a:noFill/>
          <a:ln>
            <a:solidFill/>
          </a:ln>
        </p:spPr>
        <p:txBody>
          <a:bodyPr wrap="none" lIns="0" rIns="0" tIns="0" bIns="0">
            <a:spAutoFit/>
          </a:bodyPr>
          <a:lstStyle/>
          <a:p>
            <a:pPr algn="ctr">
              <a:lnSpc>
                <a:spcPts val="1353"/>
              </a:lnSpc>
              <a:spcBef>
                <a:spcPts val="0"/>
              </a:spcBef>
              <a:spcAft>
                <a:spcPts val="0"/>
              </a:spcAft>
              <a:defRPr sz="1100" b="1">
                <a:solidFill>
                  <a:srgbClr val="345D3E"/>
                </a:solidFill>
                <a:latin typeface="Arial"/>
              </a:defRPr>
            </a:pPr>
            <a:r>
              <a:rPr>
                <a:solidFill/>
              </a:rPr>
              <a:t>04</a:t>
            </a:r>
          </a:p>
        </p:txBody>
      </p:sp>
      <p:sp>
        <p:nvSpPr>
          <p:cNvPr id="27" name="TextBox 26"/>
          <p:cNvSpPr txBox="1"/>
          <p:nvPr/>
        </p:nvSpPr>
        <p:spPr>
          <a:xfrm>
            <a:off x="9309100" y="3086100"/>
            <a:ext cx="2209800" cy="660400"/>
          </a:xfrm>
          <a:prstGeom prst="rect">
            <a:avLst/>
          </a:prstGeom>
          <a:noFill/>
          <a:ln>
            <a:solidFill/>
          </a:ln>
        </p:spPr>
        <p:txBody>
          <a:bodyPr wrap="none" lIns="0" rIns="0" tIns="0" bIns="0">
            <a:spAutoFit/>
          </a:bodyPr>
          <a:lstStyle/>
          <a:p>
            <a:pPr algn="l">
              <a:lnSpc>
                <a:spcPts val="2337"/>
              </a:lnSpc>
              <a:spcBef>
                <a:spcPts val="0"/>
              </a:spcBef>
              <a:spcAft>
                <a:spcPts val="0"/>
              </a:spcAft>
              <a:defRPr sz="1900" b="1">
                <a:solidFill>
                  <a:srgbClr val="FFFFFF"/>
                </a:solidFill>
                <a:latin typeface="Arial"/>
              </a:defRPr>
            </a:pPr>
            <a:r>
              <a:rPr>
                <a:solidFill/>
              </a:rPr>
              <a:t>Thử trên điện thoại</a:t>
            </a:r>
          </a:p>
        </p:txBody>
      </p:sp>
      <p:sp>
        <p:nvSpPr>
          <p:cNvPr id="28" name="TextBox 27"/>
          <p:cNvSpPr txBox="1"/>
          <p:nvPr/>
        </p:nvSpPr>
        <p:spPr>
          <a:xfrm>
            <a:off x="9309100" y="3848100"/>
            <a:ext cx="2209800" cy="533400"/>
          </a:xfrm>
          <a:prstGeom prst="rect">
            <a:avLst/>
          </a:prstGeom>
          <a:noFill/>
          <a:ln>
            <a:solidFill/>
          </a:ln>
        </p:spPr>
        <p:txBody>
          <a:bodyPr wrap="none" lIns="0" rIns="0" tIns="0" bIns="0">
            <a:spAutoFit/>
          </a:bodyPr>
          <a:lstStyle/>
          <a:p>
            <a:pPr algn="l">
              <a:lnSpc>
                <a:spcPts val="1722"/>
              </a:lnSpc>
              <a:spcBef>
                <a:spcPts val="0"/>
              </a:spcBef>
              <a:spcAft>
                <a:spcPts val="0"/>
              </a:spcAft>
              <a:defRPr sz="1400" b="0">
                <a:solidFill>
                  <a:srgbClr val="EDE6FC"/>
                </a:solidFill>
                <a:latin typeface="Arial"/>
              </a:defRPr>
            </a:pPr>
            <a:r>
              <a:rPr>
                <a:solidFill/>
              </a:rPr>
              <a:t>Kiểm tra giảm chuyển động</a:t>
            </a:r>
          </a:p>
        </p:txBody>
      </p:sp>
      <p:sp>
        <p:nvSpPr>
          <p:cNvPr id="29" name="TextBox 28"/>
          <p:cNvSpPr txBox="1"/>
          <p:nvPr/>
        </p:nvSpPr>
        <p:spPr>
          <a:xfrm>
            <a:off x="508000" y="4889500"/>
            <a:ext cx="11176000" cy="596900"/>
          </a:xfrm>
          <a:prstGeom prst="rect">
            <a:avLst/>
          </a:prstGeom>
          <a:noFill/>
          <a:ln>
            <a:solidFill/>
          </a:ln>
        </p:spPr>
        <p:txBody>
          <a:bodyPr wrap="none" lIns="0" rIns="0" tIns="0" bIns="0">
            <a:spAutoFit/>
          </a:bodyPr>
          <a:lstStyle/>
          <a:p>
            <a:pPr algn="l">
              <a:lnSpc>
                <a:spcPts val="3936"/>
              </a:lnSpc>
              <a:spcBef>
                <a:spcPts val="0"/>
              </a:spcBef>
              <a:spcAft>
                <a:spcPts val="0"/>
              </a:spcAft>
              <a:defRPr sz="3200" b="1">
                <a:solidFill>
                  <a:srgbClr val="FFFFFF"/>
                </a:solidFill>
                <a:latin typeface="Arial"/>
              </a:defRPr>
            </a:pPr>
            <a:r>
              <a:rPr>
                <a:solidFill/>
              </a:rPr>
              <a:t>Cảm ơn thầy cô và các bạn!</a:t>
            </a:r>
          </a:p>
        </p:txBody>
      </p:sp>
      <p:sp>
        <p:nvSpPr>
          <p:cNvPr id="30" name="TextBox 29"/>
          <p:cNvSpPr txBox="1"/>
          <p:nvPr/>
        </p:nvSpPr>
        <p:spPr>
          <a:xfrm>
            <a:off x="508000" y="5740400"/>
            <a:ext cx="11176000" cy="330200"/>
          </a:xfrm>
          <a:prstGeom prst="rect">
            <a:avLst/>
          </a:prstGeom>
          <a:noFill/>
          <a:ln>
            <a:solidFill/>
          </a:ln>
        </p:spPr>
        <p:txBody>
          <a:bodyPr wrap="none" lIns="0" rIns="0" tIns="0" bIns="0">
            <a:spAutoFit/>
          </a:bodyPr>
          <a:lstStyle/>
          <a:p>
            <a:pPr algn="l">
              <a:lnSpc>
                <a:spcPts val="2091"/>
              </a:lnSpc>
              <a:spcBef>
                <a:spcPts val="0"/>
              </a:spcBef>
              <a:spcAft>
                <a:spcPts val="0"/>
              </a:spcAft>
              <a:defRPr sz="1700" b="0">
                <a:solidFill>
                  <a:srgbClr val="D6EF8B"/>
                </a:solidFill>
                <a:latin typeface="Arial"/>
              </a:defRPr>
            </a:pPr>
            <a:r>
              <a:rPr>
                <a:solidFill/>
                <a:hlinkClick r:id="rId2"/>
              </a:rPr>
              <a:t>github.com/tunato2807-del/qlduanphammen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Finora — Quản lý tài chính cá nhân và lập ngân sách tự động</dc:title>
  <dc:subject>Báo cáo đồ án Finora V2, cập nhật 29/10/2026</dc:subject>
  <dc:creator>Finora</dc:creator>
  <cp:keywords>Finora, tài chính cá nhân, ngân sách, React, NestJS, PostgreSQL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